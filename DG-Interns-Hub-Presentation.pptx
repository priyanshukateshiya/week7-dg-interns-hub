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c292cf4c-9b5c-0af1-1e71-47ba169363d0}">
          <p14:sldIdLst>
            <p14:sldId id="256"/>
          </p14:sldIdLst>
        </p14:section>
        <p14:section name="Overview" id="{390ae679-666e-d102-c081-a96aaf52a962}">
          <p14:sldIdLst>
            <p14:sldId id="257"/>
          </p14:sldIdLst>
        </p14:section>
        <p14:section name="Build" id="{c3a4ece0-601d-4720-612f-6ebf018dec85}">
          <p14:sldIdLst>
            <p14:sldId id="258"/>
            <p14:sldId id="259"/>
          </p14:sldIdLst>
        </p14:section>
        <p14:section name="Features" id="{61828474-1d45-3006-4133-bd04df1ac2e4}">
          <p14:sldIdLst>
            <p14:sldId id="260"/>
            <p14:sldId id="261"/>
          </p14:sldIdLst>
        </p14:section>
        <p14:section name="Design" id="{6a74ef9c-1f15-0cb4-003d-b5cdf29f4117}">
          <p14:sldIdLst>
            <p14:sldId id="262"/>
          </p14:sldIdLst>
        </p14:section>
        <p14:section name="Close" id="{061844c7-c8e2-2050-321d-79aa461f8046}">
          <p14:sldIdLst>
            <p14:sldId id="26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DG Interns Hub is a responsive internship landing website built for the Week 7 React JS task. Three routed pages, nine internship listings, an apply flow, and a responsive layout written in plain CSS with no UI framework.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brief asked for a responsive internship site using functional components, React Router, at least three pages, job cards with an apply button and basic styling. Every requirement is covered, and the apply button opens a real validated form rather than a dead link.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React 19 with functional components, React Router 7 for navigation, Vite as the build tool, and plain CSS using custom properties. No Bootstrap or Tailwind — the styling is hand-written so the design tokens stay readable and the bundle stays small.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BrowserRouter wraps the app in main.jsx, App.jsx declares the routes, and each route renders a page component. A ScrollToTop helper resets scroll position on every navigation, and a catch-all route handles unknown URLs.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brief asked for cards and an apply button. On top of that the site has live search, category and work-type filters, a validated application modal, a validated contact form, and accessibility basics like ARIA labels and keyboard focus states.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apply button is the core interaction. The card is presentational and reports the chosen job upward through an onApply prop; the page owns the selected-job state and renders the modal conditionally. The form validates email format and a ten-digit phone number before showing the success panel.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Layout is driven by CSS Grid with auto-fit and minmax, so cards reflow without a media query. Four media queries then handle the structural changes: the hamburger menu, stacked filters and full-width buttons on small screens.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takeaways: designing component props before markup, keeping shared state in the owning page, and remembering that client-side routing needs a server-side fallback rule. Replace the placeholder links with your own repository and deployment URLs before presenting.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66928" y="1627632"/>
            <a:ext cx="6583680" cy="310896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300" b="1" spc="240" kern="0" dirty="0">
                <a:solidFill>
                  <a:schemeClr val="accent2"/>
                </a:solidFill>
              </a:defRPr>
            </a:lvl1pPr>
          </a:lstStyle>
          <a:p>
            <a:pPr indent="0" marL="0">
              <a:buNone/>
            </a:pP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66928" y="2011680"/>
            <a:ext cx="658368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5400" b="1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5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66928" y="3456432"/>
            <a:ext cx="621792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lnSpc>
                <a:spcPct val="118000"/>
              </a:lnSpc>
              <a:buNone/>
              <a:defRPr lang="en-US" sz="1700" dirty="0">
                <a:solidFill>
                  <a:srgbClr val="CBD5E1"/>
                </a:solidFill>
              </a:defRPr>
            </a:lvl1pPr>
          </a:lstStyle>
          <a:p>
            <a:pPr indent="0" marL="0">
              <a:lnSpc>
                <a:spcPct val="118000"/>
              </a:lnSpc>
              <a:buNone/>
            </a:pPr>
            <a:endParaRPr lang="en-US" sz="17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66928" y="384048"/>
            <a:ext cx="11027664" cy="658368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66928" y="1042416"/>
            <a:ext cx="11027664" cy="384048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400" dirty="0">
                <a:solidFill>
                  <a:schemeClr val="accent5"/>
                </a:solidFill>
              </a:defRPr>
            </a:lvl1pPr>
          </a:lstStyle>
          <a:p>
            <a:pPr indent="0" marL="0">
              <a:buNone/>
            </a:pPr>
            <a:endParaRPr lang="en-US" sz="1400" dirty="0"/>
          </a:p>
        </p:txBody>
      </p:sp>
      <p:sp>
        <p:nvSpPr>
          <p:cNvPr id="4" name="Text 0"/>
          <p:cNvSpPr txBox="1"/>
          <p:nvPr/>
        </p:nvSpPr>
        <p:spPr>
          <a:xfrm>
            <a:off x="566928" y="62362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DG Interns Hub  ·  React JS Week 7 Task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23620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_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66928" y="475488"/>
            <a:ext cx="11027664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200" b="1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32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23620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go-mark"/>
          <p:cNvSpPr/>
          <p:nvPr/>
        </p:nvSpPr>
        <p:spPr>
          <a:xfrm>
            <a:off x="566928" y="804672"/>
            <a:ext cx="566928" cy="566928"/>
          </a:xfrm>
          <a:prstGeom prst="roundRect">
            <a:avLst>
              <a:gd name="adj" fmla="val 25806"/>
            </a:avLst>
          </a:prstGeom>
          <a:solidFill>
            <a:schemeClr val="accent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66928" y="80467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DG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261872" y="804672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Interns Hub</a:t>
            </a:r>
            <a:endParaRPr lang="en-US" sz="1800" dirty="0"/>
          </a:p>
        </p:txBody>
      </p:sp>
      <p:sp>
        <p:nvSpPr>
          <p:cNvPr id="5" name="Text 0"/>
          <p:cNvSpPr/>
          <p:nvPr>
            <p:ph idx="100" type="body" hasCustomPrompt="1"/>
          </p:nvPr>
        </p:nvSpPr>
        <p:spPr>
          <a:xfrm>
            <a:off x="566928" y="1627632"/>
            <a:ext cx="6583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40" kern="0" dirty="0">
                <a:solidFill>
                  <a:schemeClr val="accent2"/>
                </a:solidFill>
              </a:rPr>
              <a:t>WEEK 7 TASK  ·  REACT JS</a:t>
            </a:r>
            <a:endParaRPr lang="en-US" sz="1300" dirty="0"/>
          </a:p>
        </p:txBody>
      </p:sp>
      <p:sp>
        <p:nvSpPr>
          <p:cNvPr id="6" name="Text 0"/>
          <p:cNvSpPr/>
          <p:nvPr>
            <p:ph idx="101" type="title" hasCustomPrompt="1"/>
          </p:nvPr>
        </p:nvSpPr>
        <p:spPr>
          <a:xfrm>
            <a:off x="566928" y="2011680"/>
            <a:ext cx="6583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bg1"/>
                </a:solidFill>
              </a:rPr>
              <a:t>DG Interns Hub</a:t>
            </a:r>
            <a:endParaRPr lang="en-US" sz="5400" dirty="0"/>
          </a:p>
        </p:txBody>
      </p:sp>
      <p:sp>
        <p:nvSpPr>
          <p:cNvPr id="7" name="Text 0"/>
          <p:cNvSpPr/>
          <p:nvPr>
            <p:ph idx="102" type="body" hasCustomPrompt="1"/>
          </p:nvPr>
        </p:nvSpPr>
        <p:spPr>
          <a:xfrm>
            <a:off x="566928" y="3456432"/>
            <a:ext cx="6217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700" dirty="0">
                <a:solidFill>
                  <a:srgbClr val="CBD5E1"/>
                </a:solidFill>
              </a:rPr>
              <a:t>A responsive job and internship landing website built with React JS, React Router and a hand-written CSS design system.</a:t>
            </a:r>
            <a:endParaRPr lang="en-US" sz="1700" dirty="0"/>
          </a:p>
        </p:txBody>
      </p:sp>
      <p:sp>
        <p:nvSpPr>
          <p:cNvPr id="8" name="stat-num-0"/>
          <p:cNvSpPr txBox="1"/>
          <p:nvPr/>
        </p:nvSpPr>
        <p:spPr>
          <a:xfrm>
            <a:off x="566928" y="484632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400" b="1" dirty="0">
                <a:solidFill>
                  <a:srgbClr val="06B6D4"/>
                </a:solidFill>
              </a:rPr>
              <a:t>3</a:t>
            </a:r>
            <a:endParaRPr lang="en-US" sz="3400" dirty="0"/>
          </a:p>
        </p:txBody>
      </p:sp>
      <p:sp>
        <p:nvSpPr>
          <p:cNvPr id="9" name="stat-lbl-0"/>
          <p:cNvSpPr txBox="1"/>
          <p:nvPr/>
        </p:nvSpPr>
        <p:spPr>
          <a:xfrm>
            <a:off x="566928" y="541324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94A3B8"/>
                </a:solidFill>
              </a:rPr>
              <a:t>PAGES</a:t>
            </a:r>
            <a:endParaRPr lang="en-US" sz="1000" dirty="0"/>
          </a:p>
        </p:txBody>
      </p:sp>
      <p:sp>
        <p:nvSpPr>
          <p:cNvPr id="10" name="stat-num-1"/>
          <p:cNvSpPr txBox="1"/>
          <p:nvPr/>
        </p:nvSpPr>
        <p:spPr>
          <a:xfrm>
            <a:off x="2139696" y="484632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400" b="1" dirty="0">
                <a:solidFill>
                  <a:srgbClr val="06B6D4"/>
                </a:solidFill>
              </a:rPr>
              <a:t>9</a:t>
            </a:r>
            <a:endParaRPr lang="en-US" sz="3400" dirty="0"/>
          </a:p>
        </p:txBody>
      </p:sp>
      <p:sp>
        <p:nvSpPr>
          <p:cNvPr id="11" name="stat-lbl-1"/>
          <p:cNvSpPr txBox="1"/>
          <p:nvPr/>
        </p:nvSpPr>
        <p:spPr>
          <a:xfrm>
            <a:off x="2139696" y="541324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94A3B8"/>
                </a:solidFill>
              </a:rPr>
              <a:t>LISTINGS</a:t>
            </a:r>
            <a:endParaRPr lang="en-US" sz="1000" dirty="0"/>
          </a:p>
        </p:txBody>
      </p:sp>
      <p:sp>
        <p:nvSpPr>
          <p:cNvPr id="12" name="stat-num-2"/>
          <p:cNvSpPr txBox="1"/>
          <p:nvPr/>
        </p:nvSpPr>
        <p:spPr>
          <a:xfrm>
            <a:off x="3712464" y="484632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400" b="1" dirty="0">
                <a:solidFill>
                  <a:srgbClr val="06B6D4"/>
                </a:solidFill>
              </a:rPr>
              <a:t>4</a:t>
            </a:r>
            <a:endParaRPr lang="en-US" sz="3400" dirty="0"/>
          </a:p>
        </p:txBody>
      </p:sp>
      <p:sp>
        <p:nvSpPr>
          <p:cNvPr id="13" name="stat-lbl-2"/>
          <p:cNvSpPr txBox="1"/>
          <p:nvPr/>
        </p:nvSpPr>
        <p:spPr>
          <a:xfrm>
            <a:off x="3712464" y="541324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94A3B8"/>
                </a:solidFill>
              </a:rPr>
              <a:t>BREAKPOINTS</a:t>
            </a:r>
            <a:endParaRPr lang="en-US" sz="1000" dirty="0"/>
          </a:p>
        </p:txBody>
      </p:sp>
      <p:sp>
        <p:nvSpPr>
          <p:cNvPr id="14" name="stat-num-3"/>
          <p:cNvSpPr txBox="1"/>
          <p:nvPr/>
        </p:nvSpPr>
        <p:spPr>
          <a:xfrm>
            <a:off x="5285232" y="484632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400" b="1" dirty="0">
                <a:solidFill>
                  <a:srgbClr val="06B6D4"/>
                </a:solidFill>
              </a:rPr>
              <a:t>0</a:t>
            </a:r>
            <a:endParaRPr lang="en-US" sz="3400" dirty="0"/>
          </a:p>
        </p:txBody>
      </p:sp>
      <p:sp>
        <p:nvSpPr>
          <p:cNvPr id="15" name="stat-lbl-3"/>
          <p:cNvSpPr txBox="1"/>
          <p:nvPr/>
        </p:nvSpPr>
        <p:spPr>
          <a:xfrm>
            <a:off x="5285232" y="541324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94A3B8"/>
                </a:solidFill>
              </a:rPr>
              <a:t>UI LIBRARIES</a:t>
            </a:r>
            <a:endParaRPr lang="en-US" sz="1000" dirty="0"/>
          </a:p>
        </p:txBody>
      </p:sp>
      <p:sp>
        <p:nvSpPr>
          <p:cNvPr id="16" name="hero-card-0"/>
          <p:cNvSpPr/>
          <p:nvPr/>
        </p:nvSpPr>
        <p:spPr>
          <a:xfrm>
            <a:off x="7635240" y="1783080"/>
            <a:ext cx="3931920" cy="987552"/>
          </a:xfrm>
          <a:prstGeom prst="roundRect">
            <a:avLst>
              <a:gd name="adj" fmla="val 9259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7" name="hero-card-logo-0"/>
          <p:cNvSpPr/>
          <p:nvPr/>
        </p:nvSpPr>
        <p:spPr>
          <a:xfrm>
            <a:off x="7854696" y="2002536"/>
            <a:ext cx="548640" cy="548640"/>
          </a:xfrm>
          <a:prstGeom prst="roundRect">
            <a:avLst>
              <a:gd name="adj" fmla="val 23333"/>
            </a:avLst>
          </a:prstGeom>
          <a:solidFill>
            <a:srgbClr val="4F46E5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531352" y="1965960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Frontend Developer Intern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8531352" y="2276856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DeoDap Technologies · Rajkot</a:t>
            </a:r>
            <a:endParaRPr lang="en-US" sz="1050" dirty="0"/>
          </a:p>
        </p:txBody>
      </p:sp>
      <p:sp>
        <p:nvSpPr>
          <p:cNvPr id="20" name="hero-card-1"/>
          <p:cNvSpPr/>
          <p:nvPr/>
        </p:nvSpPr>
        <p:spPr>
          <a:xfrm>
            <a:off x="7635240" y="2990088"/>
            <a:ext cx="3931920" cy="987552"/>
          </a:xfrm>
          <a:prstGeom prst="roundRect">
            <a:avLst>
              <a:gd name="adj" fmla="val 9259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1" name="hero-card-logo-1"/>
          <p:cNvSpPr/>
          <p:nvPr/>
        </p:nvSpPr>
        <p:spPr>
          <a:xfrm>
            <a:off x="7854696" y="3209544"/>
            <a:ext cx="548640" cy="548640"/>
          </a:xfrm>
          <a:prstGeom prst="roundRect">
            <a:avLst>
              <a:gd name="adj" fmla="val 23333"/>
            </a:avLst>
          </a:prstGeom>
          <a:solidFill>
            <a:srgbClr val="06B6D4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8531352" y="3172968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UI/UX Design Intern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8531352" y="3483864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Pixel Craft Studio · Remote</a:t>
            </a:r>
            <a:endParaRPr lang="en-US" sz="1050" dirty="0"/>
          </a:p>
        </p:txBody>
      </p:sp>
      <p:sp>
        <p:nvSpPr>
          <p:cNvPr id="24" name="hero-card-2"/>
          <p:cNvSpPr/>
          <p:nvPr/>
        </p:nvSpPr>
        <p:spPr>
          <a:xfrm>
            <a:off x="7635240" y="4197096"/>
            <a:ext cx="3931920" cy="987552"/>
          </a:xfrm>
          <a:prstGeom prst="roundRect">
            <a:avLst>
              <a:gd name="adj" fmla="val 9259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5" name="hero-card-logo-2"/>
          <p:cNvSpPr/>
          <p:nvPr/>
        </p:nvSpPr>
        <p:spPr>
          <a:xfrm>
            <a:off x="7854696" y="4416552"/>
            <a:ext cx="548640" cy="548640"/>
          </a:xfrm>
          <a:prstGeom prst="roundRect">
            <a:avLst>
              <a:gd name="adj" fmla="val 23333"/>
            </a:avLst>
          </a:prstGeom>
          <a:solidFill>
            <a:srgbClr val="8B5CF6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8531352" y="4379976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Data Analyst Intern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8531352" y="4690872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InsightSphere · Remote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66928" y="384048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Objective and scope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66928" y="1042416"/>
            <a:ext cx="110276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What the task asked for, and what was delivered</a:t>
            </a:r>
            <a:endParaRPr lang="en-US" sz="1400" dirty="0"/>
          </a:p>
        </p:txBody>
      </p:sp>
      <p:sp>
        <p:nvSpPr>
          <p:cNvPr id="4" name="objective-text"/>
          <p:cNvSpPr txBox="1"/>
          <p:nvPr/>
        </p:nvSpPr>
        <p:spPr>
          <a:xfrm>
            <a:off x="566928" y="1627632"/>
            <a:ext cx="48463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chemeClr val="tx1"/>
                </a:solidFill>
              </a:rPr>
              <a:t>Build a responsive website for DG Interns Hub where students can view and explore internship opportunities.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chemeClr val="accent5"/>
                </a:solidFill>
              </a:rPr>
              <a:t>The site is a single-page React application: routing happens on the client, listings render from a data module, and every screen is built from reusable functional components.</a:t>
            </a:r>
            <a:endParaRPr lang="en-US" sz="1600" dirty="0"/>
          </a:p>
        </p:txBody>
      </p:sp>
      <p:sp>
        <p:nvSpPr>
          <p:cNvPr id="5" name="req-dot-0"/>
          <p:cNvSpPr/>
          <p:nvPr/>
        </p:nvSpPr>
        <p:spPr>
          <a:xfrm>
            <a:off x="566928" y="3767328"/>
            <a:ext cx="237744" cy="237744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66928" y="376732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7" name="req-text-0"/>
          <p:cNvSpPr txBox="1"/>
          <p:nvPr/>
        </p:nvSpPr>
        <p:spPr>
          <a:xfrm>
            <a:off x="932688" y="3730752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React JS with functional components</a:t>
            </a:r>
            <a:endParaRPr lang="en-US" sz="1250" dirty="0"/>
          </a:p>
        </p:txBody>
      </p:sp>
      <p:sp>
        <p:nvSpPr>
          <p:cNvPr id="8" name="req-dot-1"/>
          <p:cNvSpPr/>
          <p:nvPr/>
        </p:nvSpPr>
        <p:spPr>
          <a:xfrm>
            <a:off x="566928" y="4169664"/>
            <a:ext cx="237744" cy="237744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66928" y="416966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10" name="req-text-1"/>
          <p:cNvSpPr txBox="1"/>
          <p:nvPr/>
        </p:nvSpPr>
        <p:spPr>
          <a:xfrm>
            <a:off x="932688" y="4133088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React Router across multiple pages</a:t>
            </a:r>
            <a:endParaRPr lang="en-US" sz="1250" dirty="0"/>
          </a:p>
        </p:txBody>
      </p:sp>
      <p:sp>
        <p:nvSpPr>
          <p:cNvPr id="11" name="req-dot-2"/>
          <p:cNvSpPr/>
          <p:nvPr/>
        </p:nvSpPr>
        <p:spPr>
          <a:xfrm>
            <a:off x="566928" y="4572000"/>
            <a:ext cx="237744" cy="237744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66928" y="457200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13" name="req-text-2"/>
          <p:cNvSpPr txBox="1"/>
          <p:nvPr/>
        </p:nvSpPr>
        <p:spPr>
          <a:xfrm>
            <a:off x="932688" y="4535424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Home, Jobs and Contact pages</a:t>
            </a:r>
            <a:endParaRPr lang="en-US" sz="1250" dirty="0"/>
          </a:p>
        </p:txBody>
      </p:sp>
      <p:sp>
        <p:nvSpPr>
          <p:cNvPr id="14" name="req-dot-3"/>
          <p:cNvSpPr/>
          <p:nvPr/>
        </p:nvSpPr>
        <p:spPr>
          <a:xfrm>
            <a:off x="566928" y="4974336"/>
            <a:ext cx="237744" cy="237744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66928" y="497433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16" name="req-text-3"/>
          <p:cNvSpPr txBox="1"/>
          <p:nvPr/>
        </p:nvSpPr>
        <p:spPr>
          <a:xfrm>
            <a:off x="932688" y="4937760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Listings shown in card format</a:t>
            </a:r>
            <a:endParaRPr lang="en-US" sz="1250" dirty="0"/>
          </a:p>
        </p:txBody>
      </p:sp>
      <p:sp>
        <p:nvSpPr>
          <p:cNvPr id="17" name="req-dot-4"/>
          <p:cNvSpPr/>
          <p:nvPr/>
        </p:nvSpPr>
        <p:spPr>
          <a:xfrm>
            <a:off x="566928" y="5376672"/>
            <a:ext cx="237744" cy="237744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66928" y="537667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19" name="req-text-4"/>
          <p:cNvSpPr txBox="1"/>
          <p:nvPr/>
        </p:nvSpPr>
        <p:spPr>
          <a:xfrm>
            <a:off x="932688" y="5340096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Apply button on every job card</a:t>
            </a:r>
            <a:endParaRPr lang="en-US" sz="1250" dirty="0"/>
          </a:p>
        </p:txBody>
      </p:sp>
      <p:sp>
        <p:nvSpPr>
          <p:cNvPr id="20" name="req-dot-5"/>
          <p:cNvSpPr/>
          <p:nvPr/>
        </p:nvSpPr>
        <p:spPr>
          <a:xfrm>
            <a:off x="566928" y="5779008"/>
            <a:ext cx="237744" cy="237744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66928" y="577900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22" name="req-text-5"/>
          <p:cNvSpPr txBox="1"/>
          <p:nvPr/>
        </p:nvSpPr>
        <p:spPr>
          <a:xfrm>
            <a:off x="932688" y="5742432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Responsive on mobile and desktop</a:t>
            </a:r>
            <a:endParaRPr lang="en-US" sz="1250" dirty="0"/>
          </a:p>
        </p:txBody>
      </p:sp>
      <p:sp>
        <p:nvSpPr>
          <p:cNvPr id="23" name="stat-panel"/>
          <p:cNvSpPr/>
          <p:nvPr/>
        </p:nvSpPr>
        <p:spPr>
          <a:xfrm>
            <a:off x="5943600" y="1627632"/>
            <a:ext cx="5650992" cy="4334256"/>
          </a:xfrm>
          <a:prstGeom prst="roundRect">
            <a:avLst>
              <a:gd name="adj" fmla="val 1266"/>
            </a:avLst>
          </a:prstGeom>
          <a:solidFill>
            <a:schemeClr val="bg2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big-stat-0"/>
          <p:cNvSpPr txBox="1"/>
          <p:nvPr/>
        </p:nvSpPr>
        <p:spPr>
          <a:xfrm>
            <a:off x="6272784" y="1901952"/>
            <a:ext cx="822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4F46E5"/>
                </a:solidFill>
              </a:rPr>
              <a:t>3</a:t>
            </a:r>
            <a:endParaRPr lang="en-US" sz="4000" dirty="0"/>
          </a:p>
        </p:txBody>
      </p:sp>
      <p:sp>
        <p:nvSpPr>
          <p:cNvPr id="25" name="Text 23"/>
          <p:cNvSpPr txBox="1"/>
          <p:nvPr/>
        </p:nvSpPr>
        <p:spPr>
          <a:xfrm>
            <a:off x="7205472" y="1956816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chemeClr val="tx1"/>
                </a:solidFill>
              </a:rPr>
              <a:t>Routed pages</a:t>
            </a:r>
            <a:endParaRPr lang="en-US" sz="1350" dirty="0"/>
          </a:p>
        </p:txBody>
      </p:sp>
      <p:sp>
        <p:nvSpPr>
          <p:cNvPr id="26" name="Text 24"/>
          <p:cNvSpPr txBox="1"/>
          <p:nvPr/>
        </p:nvSpPr>
        <p:spPr>
          <a:xfrm>
            <a:off x="7205472" y="2249424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Home · Jobs · Contact, plus a 404 fallback</a:t>
            </a:r>
            <a:endParaRPr lang="en-US" sz="1100" dirty="0"/>
          </a:p>
        </p:txBody>
      </p:sp>
      <p:sp>
        <p:nvSpPr>
          <p:cNvPr id="27" name="big-stat-1"/>
          <p:cNvSpPr txBox="1"/>
          <p:nvPr/>
        </p:nvSpPr>
        <p:spPr>
          <a:xfrm>
            <a:off x="6272784" y="2926080"/>
            <a:ext cx="822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6B6D4"/>
                </a:solidFill>
              </a:rPr>
              <a:t>9</a:t>
            </a:r>
            <a:endParaRPr lang="en-US" sz="4000" dirty="0"/>
          </a:p>
        </p:txBody>
      </p:sp>
      <p:sp>
        <p:nvSpPr>
          <p:cNvPr id="28" name="Text 26"/>
          <p:cNvSpPr txBox="1"/>
          <p:nvPr/>
        </p:nvSpPr>
        <p:spPr>
          <a:xfrm>
            <a:off x="7205472" y="2980944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chemeClr val="tx1"/>
                </a:solidFill>
              </a:rPr>
              <a:t>Internship listings</a:t>
            </a:r>
            <a:endParaRPr lang="en-US" sz="1350" dirty="0"/>
          </a:p>
        </p:txBody>
      </p:sp>
      <p:sp>
        <p:nvSpPr>
          <p:cNvPr id="29" name="Text 27"/>
          <p:cNvSpPr txBox="1"/>
          <p:nvPr/>
        </p:nvSpPr>
        <p:spPr>
          <a:xfrm>
            <a:off x="7205472" y="327355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Across 6 categories and 3 work types</a:t>
            </a:r>
            <a:endParaRPr lang="en-US" sz="1100" dirty="0"/>
          </a:p>
        </p:txBody>
      </p:sp>
      <p:sp>
        <p:nvSpPr>
          <p:cNvPr id="30" name="big-stat-2"/>
          <p:cNvSpPr txBox="1"/>
          <p:nvPr/>
        </p:nvSpPr>
        <p:spPr>
          <a:xfrm>
            <a:off x="6272784" y="3950208"/>
            <a:ext cx="822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8B5CF6"/>
                </a:solidFill>
              </a:rPr>
              <a:t>6</a:t>
            </a:r>
            <a:endParaRPr lang="en-US" sz="4000" dirty="0"/>
          </a:p>
        </p:txBody>
      </p:sp>
      <p:sp>
        <p:nvSpPr>
          <p:cNvPr id="31" name="Text 29"/>
          <p:cNvSpPr txBox="1"/>
          <p:nvPr/>
        </p:nvSpPr>
        <p:spPr>
          <a:xfrm>
            <a:off x="7205472" y="400507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chemeClr val="tx1"/>
                </a:solidFill>
              </a:rPr>
              <a:t>Reusable components</a:t>
            </a:r>
            <a:endParaRPr lang="en-US" sz="1350" dirty="0"/>
          </a:p>
        </p:txBody>
      </p:sp>
      <p:sp>
        <p:nvSpPr>
          <p:cNvPr id="32" name="Text 30"/>
          <p:cNvSpPr txBox="1"/>
          <p:nvPr/>
        </p:nvSpPr>
        <p:spPr>
          <a:xfrm>
            <a:off x="7205472" y="42976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Navbar, Footer, JobCard, ApplyModal and pages</a:t>
            </a:r>
            <a:endParaRPr lang="en-US" sz="1100" dirty="0"/>
          </a:p>
        </p:txBody>
      </p:sp>
      <p:sp>
        <p:nvSpPr>
          <p:cNvPr id="33" name="big-stat-3"/>
          <p:cNvSpPr txBox="1"/>
          <p:nvPr/>
        </p:nvSpPr>
        <p:spPr>
          <a:xfrm>
            <a:off x="6272784" y="4974336"/>
            <a:ext cx="822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0B981"/>
                </a:solidFill>
              </a:rPr>
              <a:t>4</a:t>
            </a:r>
            <a:endParaRPr lang="en-US" sz="4000" dirty="0"/>
          </a:p>
        </p:txBody>
      </p:sp>
      <p:sp>
        <p:nvSpPr>
          <p:cNvPr id="34" name="Text 32"/>
          <p:cNvSpPr txBox="1"/>
          <p:nvPr/>
        </p:nvSpPr>
        <p:spPr>
          <a:xfrm>
            <a:off x="7205472" y="502920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chemeClr val="tx1"/>
                </a:solidFill>
              </a:rPr>
              <a:t>Responsive breakpoints</a:t>
            </a:r>
            <a:endParaRPr lang="en-US" sz="1350" dirty="0"/>
          </a:p>
        </p:txBody>
      </p:sp>
      <p:sp>
        <p:nvSpPr>
          <p:cNvPr id="35" name="Text 33"/>
          <p:cNvSpPr txBox="1"/>
          <p:nvPr/>
        </p:nvSpPr>
        <p:spPr>
          <a:xfrm>
            <a:off x="7205472" y="532180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From 320px phones to wide desktop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23620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66928" y="384048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Tech stack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66928" y="1042416"/>
            <a:ext cx="110276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Deliberately small — no UI kit, no CSS framework</a:t>
            </a:r>
            <a:endParaRPr lang="en-US" sz="1400" dirty="0"/>
          </a:p>
        </p:txBody>
      </p:sp>
      <p:sp>
        <p:nvSpPr>
          <p:cNvPr id="4" name="stack-card-0"/>
          <p:cNvSpPr/>
          <p:nvPr/>
        </p:nvSpPr>
        <p:spPr>
          <a:xfrm>
            <a:off x="566928" y="1664208"/>
            <a:ext cx="2596896" cy="4206240"/>
          </a:xfrm>
          <a:prstGeom prst="roundRect">
            <a:avLst>
              <a:gd name="adj" fmla="val 2113"/>
            </a:avLst>
          </a:prstGeom>
          <a:solidFill>
            <a:schemeClr val="bg2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ile-R-0.96-2.16"/>
          <p:cNvSpPr/>
          <p:nvPr/>
        </p:nvSpPr>
        <p:spPr>
          <a:xfrm>
            <a:off x="877824" y="1975104"/>
            <a:ext cx="566928" cy="566928"/>
          </a:xfrm>
          <a:prstGeom prst="roundRect">
            <a:avLst>
              <a:gd name="adj" fmla="val 22581"/>
            </a:avLst>
          </a:prstGeom>
          <a:solidFill>
            <a:srgbClr val="4F46E5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77824" y="197510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</a:rPr>
              <a:t>R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877824" y="274320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React 19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877824" y="307238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4F46E5"/>
                </a:solidFill>
              </a:rPr>
              <a:t>FUNCTIONAL COMPONENTS ONLY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877824" y="3456432"/>
            <a:ext cx="199339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chemeClr val="accent5"/>
                </a:solidFill>
              </a:rPr>
              <a:t>State and side effects handled with useState, useEffect and useMemo. No class components anywhere in the codebase.</a:t>
            </a:r>
            <a:endParaRPr lang="en-US" sz="1150" dirty="0"/>
          </a:p>
        </p:txBody>
      </p:sp>
      <p:sp>
        <p:nvSpPr>
          <p:cNvPr id="10" name="stack-card-1"/>
          <p:cNvSpPr/>
          <p:nvPr/>
        </p:nvSpPr>
        <p:spPr>
          <a:xfrm>
            <a:off x="3374136" y="1664208"/>
            <a:ext cx="2596896" cy="4206240"/>
          </a:xfrm>
          <a:prstGeom prst="roundRect">
            <a:avLst>
              <a:gd name="adj" fmla="val 2113"/>
            </a:avLst>
          </a:prstGeom>
          <a:solidFill>
            <a:schemeClr val="bg2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ile-→-4.03-2.16"/>
          <p:cNvSpPr/>
          <p:nvPr/>
        </p:nvSpPr>
        <p:spPr>
          <a:xfrm>
            <a:off x="3685032" y="1975104"/>
            <a:ext cx="566928" cy="566928"/>
          </a:xfrm>
          <a:prstGeom prst="roundRect">
            <a:avLst>
              <a:gd name="adj" fmla="val 22581"/>
            </a:avLst>
          </a:prstGeom>
          <a:solidFill>
            <a:srgbClr val="06B6D4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685032" y="197510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</a:rPr>
              <a:t>→</a:t>
            </a:r>
            <a:endParaRPr lang="en-US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3685032" y="274320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React Router 7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3685032" y="307238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06B6D4"/>
                </a:solidFill>
              </a:rPr>
              <a:t>CLIENT-SIDE ROUTING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3685032" y="3456432"/>
            <a:ext cx="199339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chemeClr val="accent5"/>
                </a:solidFill>
              </a:rPr>
              <a:t>BrowserRouter wraps the app; NavLink drives the active nav state and a catch-all route renders a 404 page.</a:t>
            </a:r>
            <a:endParaRPr lang="en-US" sz="1150" dirty="0"/>
          </a:p>
        </p:txBody>
      </p:sp>
      <p:sp>
        <p:nvSpPr>
          <p:cNvPr id="16" name="stack-card-2"/>
          <p:cNvSpPr/>
          <p:nvPr/>
        </p:nvSpPr>
        <p:spPr>
          <a:xfrm>
            <a:off x="6181344" y="1664208"/>
            <a:ext cx="2596896" cy="4206240"/>
          </a:xfrm>
          <a:prstGeom prst="roundRect">
            <a:avLst>
              <a:gd name="adj" fmla="val 2113"/>
            </a:avLst>
          </a:prstGeom>
          <a:solidFill>
            <a:schemeClr val="bg2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ile-V-7.1-2.16"/>
          <p:cNvSpPr/>
          <p:nvPr/>
        </p:nvSpPr>
        <p:spPr>
          <a:xfrm>
            <a:off x="6492240" y="1975104"/>
            <a:ext cx="566928" cy="566928"/>
          </a:xfrm>
          <a:prstGeom prst="roundRect">
            <a:avLst>
              <a:gd name="adj" fmla="val 22581"/>
            </a:avLst>
          </a:prstGeom>
          <a:solidFill>
            <a:srgbClr val="8B5CF6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492240" y="197510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</a:rPr>
              <a:t>V</a:t>
            </a:r>
            <a:endParaRPr lang="en-US" sz="1900" dirty="0"/>
          </a:p>
        </p:txBody>
      </p:sp>
      <p:sp>
        <p:nvSpPr>
          <p:cNvPr id="19" name="Text 17"/>
          <p:cNvSpPr txBox="1"/>
          <p:nvPr/>
        </p:nvSpPr>
        <p:spPr>
          <a:xfrm>
            <a:off x="6492240" y="274320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Vite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6492240" y="307238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8B5CF6"/>
                </a:solidFill>
              </a:rPr>
              <a:t>BUILD TOOL AND DEV SERVER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6492240" y="3456432"/>
            <a:ext cx="199339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chemeClr val="accent5"/>
                </a:solidFill>
              </a:rPr>
              <a:t>Instant hot reload in development and a tree-shaken production bundle of roughly 89 KB gzipped.</a:t>
            </a:r>
            <a:endParaRPr lang="en-US" sz="1150" dirty="0"/>
          </a:p>
        </p:txBody>
      </p:sp>
      <p:sp>
        <p:nvSpPr>
          <p:cNvPr id="22" name="stack-card-3"/>
          <p:cNvSpPr/>
          <p:nvPr/>
        </p:nvSpPr>
        <p:spPr>
          <a:xfrm>
            <a:off x="8988552" y="1664208"/>
            <a:ext cx="2596896" cy="4206240"/>
          </a:xfrm>
          <a:prstGeom prst="roundRect">
            <a:avLst>
              <a:gd name="adj" fmla="val 2113"/>
            </a:avLst>
          </a:prstGeom>
          <a:solidFill>
            <a:schemeClr val="bg2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ile-{ }-10.169999999999998-2.16"/>
          <p:cNvSpPr/>
          <p:nvPr/>
        </p:nvSpPr>
        <p:spPr>
          <a:xfrm>
            <a:off x="9299448" y="1975104"/>
            <a:ext cx="566928" cy="566928"/>
          </a:xfrm>
          <a:prstGeom prst="roundRect">
            <a:avLst>
              <a:gd name="adj" fmla="val 22581"/>
            </a:avLst>
          </a:prstGeom>
          <a:solidFill>
            <a:srgbClr val="10B981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9299448" y="197510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</a:rPr>
              <a:t>{ }</a:t>
            </a:r>
            <a:endParaRPr lang="en-US" sz="1900" dirty="0"/>
          </a:p>
        </p:txBody>
      </p:sp>
      <p:sp>
        <p:nvSpPr>
          <p:cNvPr id="25" name="Text 23"/>
          <p:cNvSpPr txBox="1"/>
          <p:nvPr/>
        </p:nvSpPr>
        <p:spPr>
          <a:xfrm>
            <a:off x="9299448" y="274320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Plain CSS</a:t>
            </a:r>
            <a:endParaRPr lang="en-US" sz="1700" dirty="0"/>
          </a:p>
        </p:txBody>
      </p:sp>
      <p:sp>
        <p:nvSpPr>
          <p:cNvPr id="26" name="Text 24"/>
          <p:cNvSpPr txBox="1"/>
          <p:nvPr/>
        </p:nvSpPr>
        <p:spPr>
          <a:xfrm>
            <a:off x="9299448" y="307238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10B981"/>
                </a:solidFill>
              </a:rPr>
              <a:t>CUSTOM PROPERTIES AS TOKENS</a:t>
            </a:r>
            <a:endParaRPr lang="en-US" sz="950" dirty="0"/>
          </a:p>
        </p:txBody>
      </p:sp>
      <p:sp>
        <p:nvSpPr>
          <p:cNvPr id="27" name="Text 25"/>
          <p:cNvSpPr txBox="1"/>
          <p:nvPr/>
        </p:nvSpPr>
        <p:spPr>
          <a:xfrm>
            <a:off x="9299448" y="3456432"/>
            <a:ext cx="199339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chemeClr val="accent5"/>
                </a:solidFill>
              </a:rPr>
              <a:t>Colours, radii, shadows and spacing live as CSS variables on :root, so the whole theme changes from one block.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23620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66928" y="384048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Routing and structure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66928" y="1042416"/>
            <a:ext cx="110276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How a URL becomes a rendered page</a:t>
            </a:r>
            <a:endParaRPr lang="en-US" sz="1400" dirty="0"/>
          </a:p>
        </p:txBody>
      </p:sp>
      <p:sp>
        <p:nvSpPr>
          <p:cNvPr id="4" name="chain-0"/>
          <p:cNvSpPr/>
          <p:nvPr/>
        </p:nvSpPr>
        <p:spPr>
          <a:xfrm>
            <a:off x="566928" y="1737360"/>
            <a:ext cx="1920240" cy="786384"/>
          </a:xfrm>
          <a:prstGeom prst="roundRect">
            <a:avLst>
              <a:gd name="adj" fmla="val 6977"/>
            </a:avLst>
          </a:prstGeom>
          <a:solidFill>
            <a:schemeClr val="bg2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13232" y="18288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main.jsx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713232" y="21031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BrowserRouter</a:t>
            </a:r>
            <a:endParaRPr lang="en-US" sz="1050" dirty="0"/>
          </a:p>
        </p:txBody>
      </p:sp>
      <p:sp>
        <p:nvSpPr>
          <p:cNvPr id="7" name="arrow-0"/>
          <p:cNvSpPr/>
          <p:nvPr/>
        </p:nvSpPr>
        <p:spPr>
          <a:xfrm>
            <a:off x="2560320" y="2029968"/>
            <a:ext cx="219456" cy="201168"/>
          </a:xfrm>
          <a:prstGeom prst="rightArrow">
            <a:avLst/>
          </a:prstGeom>
          <a:solidFill>
            <a:srgbClr val="CBD5E1"/>
          </a:solidFill>
          <a:ln/>
        </p:spPr>
      </p:sp>
      <p:sp>
        <p:nvSpPr>
          <p:cNvPr id="8" name="chain-1"/>
          <p:cNvSpPr/>
          <p:nvPr/>
        </p:nvSpPr>
        <p:spPr>
          <a:xfrm>
            <a:off x="2852928" y="1737360"/>
            <a:ext cx="1920240" cy="786384"/>
          </a:xfrm>
          <a:prstGeom prst="roundRect">
            <a:avLst>
              <a:gd name="adj" fmla="val 6977"/>
            </a:avLst>
          </a:prstGeom>
          <a:solidFill>
            <a:schemeClr val="bg2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999232" y="18288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App.jsx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2999232" y="21031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F46E5"/>
                </a:solidFill>
              </a:rPr>
              <a:t>Routes</a:t>
            </a:r>
            <a:endParaRPr lang="en-US" sz="1050" dirty="0"/>
          </a:p>
        </p:txBody>
      </p:sp>
      <p:sp>
        <p:nvSpPr>
          <p:cNvPr id="11" name="arrow-1"/>
          <p:cNvSpPr/>
          <p:nvPr/>
        </p:nvSpPr>
        <p:spPr>
          <a:xfrm>
            <a:off x="4846320" y="2029968"/>
            <a:ext cx="219456" cy="201168"/>
          </a:xfrm>
          <a:prstGeom prst="rightArrow">
            <a:avLst/>
          </a:prstGeom>
          <a:solidFill>
            <a:srgbClr val="CBD5E1"/>
          </a:solidFill>
          <a:ln/>
        </p:spPr>
      </p:sp>
      <p:sp>
        <p:nvSpPr>
          <p:cNvPr id="12" name="route-0"/>
          <p:cNvSpPr/>
          <p:nvPr/>
        </p:nvSpPr>
        <p:spPr>
          <a:xfrm>
            <a:off x="566928" y="2816352"/>
            <a:ext cx="5577840" cy="713232"/>
          </a:xfrm>
          <a:prstGeom prst="roundRect">
            <a:avLst>
              <a:gd name="adj" fmla="val 7692"/>
            </a:avLst>
          </a:prstGeom>
          <a:solidFill>
            <a:schemeClr val="bg2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31520" y="288950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46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755648" y="2889504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Home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1755648" y="3145536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accent5"/>
                </a:solidFill>
              </a:rPr>
              <a:t>Hero, stats, feature cards, featured jobs and a closing CTA</a:t>
            </a:r>
            <a:endParaRPr lang="en-US" sz="1050" dirty="0"/>
          </a:p>
        </p:txBody>
      </p:sp>
      <p:sp>
        <p:nvSpPr>
          <p:cNvPr id="16" name="route-1"/>
          <p:cNvSpPr/>
          <p:nvPr/>
        </p:nvSpPr>
        <p:spPr>
          <a:xfrm>
            <a:off x="566928" y="3657600"/>
            <a:ext cx="5577840" cy="713232"/>
          </a:xfrm>
          <a:prstGeom prst="roundRect">
            <a:avLst>
              <a:gd name="adj" fmla="val 7692"/>
            </a:avLst>
          </a:prstGeom>
          <a:solidFill>
            <a:schemeClr val="bg2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31520" y="37307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B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/jobs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755648" y="373075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Jobs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1755648" y="3986784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accent5"/>
                </a:solidFill>
              </a:rPr>
              <a:t>Search, category chips, work-type filter and the 9-card grid</a:t>
            </a:r>
            <a:endParaRPr lang="en-US" sz="1050" dirty="0"/>
          </a:p>
        </p:txBody>
      </p:sp>
      <p:sp>
        <p:nvSpPr>
          <p:cNvPr id="20" name="route-2"/>
          <p:cNvSpPr/>
          <p:nvPr/>
        </p:nvSpPr>
        <p:spPr>
          <a:xfrm>
            <a:off x="566928" y="4498848"/>
            <a:ext cx="5577840" cy="713232"/>
          </a:xfrm>
          <a:prstGeom prst="roundRect">
            <a:avLst>
              <a:gd name="adj" fmla="val 7692"/>
            </a:avLst>
          </a:prstGeom>
          <a:solidFill>
            <a:schemeClr val="bg2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31520" y="457200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5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/contact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755648" y="45720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Contact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1755648" y="4828032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accent5"/>
                </a:solidFill>
              </a:rPr>
              <a:t>Validated enquiry form, office details and a short FAQ column</a:t>
            </a:r>
            <a:endParaRPr lang="en-US" sz="1050" dirty="0"/>
          </a:p>
        </p:txBody>
      </p:sp>
      <p:sp>
        <p:nvSpPr>
          <p:cNvPr id="24" name="route-3"/>
          <p:cNvSpPr/>
          <p:nvPr/>
        </p:nvSpPr>
        <p:spPr>
          <a:xfrm>
            <a:off x="566928" y="5340096"/>
            <a:ext cx="5577840" cy="713232"/>
          </a:xfrm>
          <a:prstGeom prst="roundRect">
            <a:avLst>
              <a:gd name="adj" fmla="val 7692"/>
            </a:avLst>
          </a:prstGeom>
          <a:solidFill>
            <a:schemeClr val="bg2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31520" y="541324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1755648" y="541324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Not Found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1755648" y="5669280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accent5"/>
                </a:solidFill>
              </a:rPr>
              <a:t>Catch-all route rendering a friendly 404 with a link back home</a:t>
            </a:r>
            <a:endParaRPr lang="en-US" sz="1050" dirty="0"/>
          </a:p>
        </p:txBody>
      </p:sp>
      <p:sp>
        <p:nvSpPr>
          <p:cNvPr id="28" name="tree-panel"/>
          <p:cNvSpPr/>
          <p:nvPr/>
        </p:nvSpPr>
        <p:spPr>
          <a:xfrm>
            <a:off x="6400800" y="1737360"/>
            <a:ext cx="5193792" cy="4224528"/>
          </a:xfrm>
          <a:prstGeom prst="roundRect">
            <a:avLst>
              <a:gd name="adj" fmla="val 1299"/>
            </a:avLst>
          </a:prstGeom>
          <a:solidFill>
            <a:schemeClr val="tx1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711696" y="19385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40" kern="0" dirty="0">
                <a:solidFill>
                  <a:srgbClr val="64748B"/>
                </a:solidFill>
              </a:rPr>
              <a:t>PROJECT STRUCTURE</a:t>
            </a:r>
            <a:endParaRPr lang="en-US" sz="950" dirty="0"/>
          </a:p>
        </p:txBody>
      </p:sp>
      <p:sp>
        <p:nvSpPr>
          <p:cNvPr id="30" name="tree-0"/>
          <p:cNvSpPr txBox="1"/>
          <p:nvPr/>
        </p:nvSpPr>
        <p:spPr>
          <a:xfrm>
            <a:off x="6711696" y="228600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src/</a:t>
            </a:r>
            <a:endParaRPr lang="en-US" sz="1050" dirty="0"/>
          </a:p>
        </p:txBody>
      </p:sp>
      <p:sp>
        <p:nvSpPr>
          <p:cNvPr id="31" name="tree-1"/>
          <p:cNvSpPr txBox="1"/>
          <p:nvPr/>
        </p:nvSpPr>
        <p:spPr>
          <a:xfrm>
            <a:off x="6711696" y="2555748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components/</a:t>
            </a:r>
            <a:endParaRPr lang="en-US" sz="1050" dirty="0"/>
          </a:p>
        </p:txBody>
      </p:sp>
      <p:sp>
        <p:nvSpPr>
          <p:cNvPr id="32" name="tree-2"/>
          <p:cNvSpPr txBox="1"/>
          <p:nvPr/>
        </p:nvSpPr>
        <p:spPr>
          <a:xfrm>
            <a:off x="6711696" y="2825496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Navbar.jsx        sticky nav + hamburger</a:t>
            </a:r>
            <a:endParaRPr lang="en-US" sz="1050" dirty="0"/>
          </a:p>
        </p:txBody>
      </p:sp>
      <p:sp>
        <p:nvSpPr>
          <p:cNvPr id="33" name="tree-3"/>
          <p:cNvSpPr txBox="1"/>
          <p:nvPr/>
        </p:nvSpPr>
        <p:spPr>
          <a:xfrm>
            <a:off x="6711696" y="3095244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Footer.jsx        site links and contact</a:t>
            </a:r>
            <a:endParaRPr lang="en-US" sz="1050" dirty="0"/>
          </a:p>
        </p:txBody>
      </p:sp>
      <p:sp>
        <p:nvSpPr>
          <p:cNvPr id="34" name="tree-4"/>
          <p:cNvSpPr txBox="1"/>
          <p:nvPr/>
        </p:nvSpPr>
        <p:spPr>
          <a:xfrm>
            <a:off x="6711696" y="3364992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6B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JobCard.jsx       listing card + Apply</a:t>
            </a:r>
            <a:endParaRPr lang="en-US" sz="1050" dirty="0"/>
          </a:p>
        </p:txBody>
      </p:sp>
      <p:sp>
        <p:nvSpPr>
          <p:cNvPr id="35" name="tree-5"/>
          <p:cNvSpPr txBox="1"/>
          <p:nvPr/>
        </p:nvSpPr>
        <p:spPr>
          <a:xfrm>
            <a:off x="6711696" y="363474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6B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ApplyModal.jsx    validated apply form</a:t>
            </a:r>
            <a:endParaRPr lang="en-US" sz="1050" dirty="0"/>
          </a:p>
        </p:txBody>
      </p:sp>
      <p:sp>
        <p:nvSpPr>
          <p:cNvPr id="36" name="tree-6"/>
          <p:cNvSpPr txBox="1"/>
          <p:nvPr/>
        </p:nvSpPr>
        <p:spPr>
          <a:xfrm>
            <a:off x="6711696" y="3904488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data/</a:t>
            </a:r>
            <a:endParaRPr lang="en-US" sz="1050" dirty="0"/>
          </a:p>
        </p:txBody>
      </p:sp>
      <p:sp>
        <p:nvSpPr>
          <p:cNvPr id="37" name="tree-7"/>
          <p:cNvSpPr txBox="1"/>
          <p:nvPr/>
        </p:nvSpPr>
        <p:spPr>
          <a:xfrm>
            <a:off x="6711696" y="4174236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jobs.js           listings and filters</a:t>
            </a:r>
            <a:endParaRPr lang="en-US" sz="1050" dirty="0"/>
          </a:p>
        </p:txBody>
      </p:sp>
      <p:sp>
        <p:nvSpPr>
          <p:cNvPr id="38" name="tree-8"/>
          <p:cNvSpPr txBox="1"/>
          <p:nvPr/>
        </p:nvSpPr>
        <p:spPr>
          <a:xfrm>
            <a:off x="6711696" y="4443984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pages/</a:t>
            </a:r>
            <a:endParaRPr lang="en-US" sz="1050" dirty="0"/>
          </a:p>
        </p:txBody>
      </p:sp>
      <p:sp>
        <p:nvSpPr>
          <p:cNvPr id="39" name="tree-9"/>
          <p:cNvSpPr txBox="1"/>
          <p:nvPr/>
        </p:nvSpPr>
        <p:spPr>
          <a:xfrm>
            <a:off x="6711696" y="4713732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Home.jsx  Jobs.jsx  Contact.jsx</a:t>
            </a:r>
            <a:endParaRPr lang="en-US" sz="1050" dirty="0"/>
          </a:p>
        </p:txBody>
      </p:sp>
      <p:sp>
        <p:nvSpPr>
          <p:cNvPr id="40" name="tree-10"/>
          <p:cNvSpPr txBox="1"/>
          <p:nvPr/>
        </p:nvSpPr>
        <p:spPr>
          <a:xfrm>
            <a:off x="6711696" y="498348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App.jsx             routes + scroll reset</a:t>
            </a:r>
            <a:endParaRPr lang="en-US" sz="1050" dirty="0"/>
          </a:p>
        </p:txBody>
      </p:sp>
      <p:sp>
        <p:nvSpPr>
          <p:cNvPr id="41" name="tree-11"/>
          <p:cNvSpPr txBox="1"/>
          <p:nvPr/>
        </p:nvSpPr>
        <p:spPr>
          <a:xfrm>
            <a:off x="6711696" y="5253228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main.jsx            BrowserRouter entry</a:t>
            </a:r>
            <a:endParaRPr lang="en-US" sz="1050" dirty="0"/>
          </a:p>
        </p:txBody>
      </p:sp>
      <p:sp>
        <p:nvSpPr>
          <p:cNvPr id="42" name="tree-12"/>
          <p:cNvSpPr txBox="1"/>
          <p:nvPr/>
        </p:nvSpPr>
        <p:spPr>
          <a:xfrm>
            <a:off x="6711696" y="5522976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index.css           tokens + all styles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23620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66928" y="384048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Key features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66928" y="1042416"/>
            <a:ext cx="110276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Beyond the brief — what makes the site feel finished</a:t>
            </a:r>
            <a:endParaRPr lang="en-US" sz="1400" dirty="0"/>
          </a:p>
        </p:txBody>
      </p:sp>
      <p:sp>
        <p:nvSpPr>
          <p:cNvPr id="4" name="feat-0"/>
          <p:cNvSpPr/>
          <p:nvPr/>
        </p:nvSpPr>
        <p:spPr>
          <a:xfrm>
            <a:off x="566928" y="1737360"/>
            <a:ext cx="3529584" cy="1956816"/>
          </a:xfrm>
          <a:prstGeom prst="roundRect">
            <a:avLst>
              <a:gd name="adj" fmla="val 2804"/>
            </a:avLst>
          </a:prstGeom>
          <a:solidFill>
            <a:schemeClr val="bg2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ile-■-0.9199999999999999-2.1999999999999997"/>
          <p:cNvSpPr/>
          <p:nvPr/>
        </p:nvSpPr>
        <p:spPr>
          <a:xfrm>
            <a:off x="841248" y="2011680"/>
            <a:ext cx="512064" cy="512064"/>
          </a:xfrm>
          <a:prstGeom prst="roundRect">
            <a:avLst>
              <a:gd name="adj" fmla="val 25000"/>
            </a:avLst>
          </a:prstGeom>
          <a:solidFill>
            <a:srgbClr val="4F46E5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41248" y="201168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■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841248" y="2651760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chemeClr val="tx1"/>
                </a:solidFill>
              </a:rPr>
              <a:t>Card-based listings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841248" y="2980944"/>
            <a:ext cx="29809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chemeClr val="accent5"/>
                </a:solidFill>
              </a:rPr>
              <a:t>Every internship renders through one reusable JobCard component driven by props.</a:t>
            </a:r>
            <a:endParaRPr lang="en-US" sz="1150" dirty="0"/>
          </a:p>
        </p:txBody>
      </p:sp>
      <p:sp>
        <p:nvSpPr>
          <p:cNvPr id="9" name="feat-1"/>
          <p:cNvSpPr/>
          <p:nvPr/>
        </p:nvSpPr>
        <p:spPr>
          <a:xfrm>
            <a:off x="4315968" y="1737360"/>
            <a:ext cx="3529584" cy="1956816"/>
          </a:xfrm>
          <a:prstGeom prst="roundRect">
            <a:avLst>
              <a:gd name="adj" fmla="val 2804"/>
            </a:avLst>
          </a:prstGeom>
          <a:solidFill>
            <a:schemeClr val="bg2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ile-→-5.02-2.1999999999999997"/>
          <p:cNvSpPr/>
          <p:nvPr/>
        </p:nvSpPr>
        <p:spPr>
          <a:xfrm>
            <a:off x="4590288" y="2011680"/>
            <a:ext cx="512064" cy="512064"/>
          </a:xfrm>
          <a:prstGeom prst="roundRect">
            <a:avLst>
              <a:gd name="adj" fmla="val 25000"/>
            </a:avLst>
          </a:prstGeom>
          <a:solidFill>
            <a:srgbClr val="06B6D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590288" y="201168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→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4590288" y="2651760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chemeClr val="tx1"/>
                </a:solidFill>
              </a:rPr>
              <a:t>Working Apply button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4590288" y="2980944"/>
            <a:ext cx="29809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chemeClr val="accent5"/>
                </a:solidFill>
              </a:rPr>
              <a:t>Opens a modal with name, email, phone and college fields, each validated before submit.</a:t>
            </a:r>
            <a:endParaRPr lang="en-US" sz="1150" dirty="0"/>
          </a:p>
        </p:txBody>
      </p:sp>
      <p:sp>
        <p:nvSpPr>
          <p:cNvPr id="14" name="feat-2"/>
          <p:cNvSpPr/>
          <p:nvPr/>
        </p:nvSpPr>
        <p:spPr>
          <a:xfrm>
            <a:off x="8065008" y="1737360"/>
            <a:ext cx="3529584" cy="1956816"/>
          </a:xfrm>
          <a:prstGeom prst="roundRect">
            <a:avLst>
              <a:gd name="adj" fmla="val 2804"/>
            </a:avLst>
          </a:prstGeom>
          <a:solidFill>
            <a:schemeClr val="bg2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ile-○-9.12-2.1999999999999997"/>
          <p:cNvSpPr/>
          <p:nvPr/>
        </p:nvSpPr>
        <p:spPr>
          <a:xfrm>
            <a:off x="8339328" y="2011680"/>
            <a:ext cx="512064" cy="512064"/>
          </a:xfrm>
          <a:prstGeom prst="roundRect">
            <a:avLst>
              <a:gd name="adj" fmla="val 25000"/>
            </a:avLst>
          </a:prstGeom>
          <a:solidFill>
            <a:srgbClr val="8B5CF6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339328" y="201168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○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8339328" y="2651760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chemeClr val="tx1"/>
                </a:solidFill>
              </a:rPr>
              <a:t>Live search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8339328" y="2980944"/>
            <a:ext cx="29809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chemeClr val="accent5"/>
                </a:solidFill>
              </a:rPr>
              <a:t>Filters by role, company, location or skill as you type, memoised with useMemo.</a:t>
            </a:r>
            <a:endParaRPr lang="en-US" sz="1150" dirty="0"/>
          </a:p>
        </p:txBody>
      </p:sp>
      <p:sp>
        <p:nvSpPr>
          <p:cNvPr id="19" name="feat-3"/>
          <p:cNvSpPr/>
          <p:nvPr/>
        </p:nvSpPr>
        <p:spPr>
          <a:xfrm>
            <a:off x="566928" y="3950208"/>
            <a:ext cx="3529584" cy="1956816"/>
          </a:xfrm>
          <a:prstGeom prst="roundRect">
            <a:avLst>
              <a:gd name="adj" fmla="val 2804"/>
            </a:avLst>
          </a:prstGeom>
          <a:solidFill>
            <a:schemeClr val="bg2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ile-▼-0.9199999999999999-4.62"/>
          <p:cNvSpPr/>
          <p:nvPr/>
        </p:nvSpPr>
        <p:spPr>
          <a:xfrm>
            <a:off x="841248" y="4224528"/>
            <a:ext cx="512064" cy="512064"/>
          </a:xfrm>
          <a:prstGeom prst="roundRect">
            <a:avLst>
              <a:gd name="adj" fmla="val 25000"/>
            </a:avLst>
          </a:prstGeom>
          <a:solidFill>
            <a:srgbClr val="10B981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41248" y="422452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▼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841248" y="4864608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chemeClr val="tx1"/>
                </a:solidFill>
              </a:rPr>
              <a:t>Category and type filters</a:t>
            </a:r>
            <a:endParaRPr lang="en-US" sz="1450" dirty="0"/>
          </a:p>
        </p:txBody>
      </p:sp>
      <p:sp>
        <p:nvSpPr>
          <p:cNvPr id="23" name="Text 21"/>
          <p:cNvSpPr txBox="1"/>
          <p:nvPr/>
        </p:nvSpPr>
        <p:spPr>
          <a:xfrm>
            <a:off x="841248" y="5193792"/>
            <a:ext cx="29809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chemeClr val="accent5"/>
                </a:solidFill>
              </a:rPr>
              <a:t>Chips for six categories plus a Remote, Onsite or Hybrid work-type dropdown.</a:t>
            </a:r>
            <a:endParaRPr lang="en-US" sz="1150" dirty="0"/>
          </a:p>
        </p:txBody>
      </p:sp>
      <p:sp>
        <p:nvSpPr>
          <p:cNvPr id="24" name="feat-4"/>
          <p:cNvSpPr/>
          <p:nvPr/>
        </p:nvSpPr>
        <p:spPr>
          <a:xfrm>
            <a:off x="4315968" y="3950208"/>
            <a:ext cx="3529584" cy="1956816"/>
          </a:xfrm>
          <a:prstGeom prst="roundRect">
            <a:avLst>
              <a:gd name="adj" fmla="val 2804"/>
            </a:avLst>
          </a:prstGeom>
          <a:solidFill>
            <a:schemeClr val="bg2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ile-✓-5.02-4.62"/>
          <p:cNvSpPr/>
          <p:nvPr/>
        </p:nvSpPr>
        <p:spPr>
          <a:xfrm>
            <a:off x="4590288" y="4224528"/>
            <a:ext cx="512064" cy="512064"/>
          </a:xfrm>
          <a:prstGeom prst="roundRect">
            <a:avLst>
              <a:gd name="adj" fmla="val 25000"/>
            </a:avLst>
          </a:prstGeom>
          <a:solidFill>
            <a:srgbClr val="F59E0B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590288" y="422452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✓</a:t>
            </a:r>
            <a:endParaRPr lang="en-US" sz="1700" dirty="0"/>
          </a:p>
        </p:txBody>
      </p:sp>
      <p:sp>
        <p:nvSpPr>
          <p:cNvPr id="27" name="Text 25"/>
          <p:cNvSpPr txBox="1"/>
          <p:nvPr/>
        </p:nvSpPr>
        <p:spPr>
          <a:xfrm>
            <a:off x="4590288" y="4864608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chemeClr val="tx1"/>
                </a:solidFill>
              </a:rPr>
              <a:t>Validated contact form</a:t>
            </a:r>
            <a:endParaRPr lang="en-US" sz="1450" dirty="0"/>
          </a:p>
        </p:txBody>
      </p:sp>
      <p:sp>
        <p:nvSpPr>
          <p:cNvPr id="28" name="Text 26"/>
          <p:cNvSpPr txBox="1"/>
          <p:nvPr/>
        </p:nvSpPr>
        <p:spPr>
          <a:xfrm>
            <a:off x="4590288" y="5193792"/>
            <a:ext cx="29809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chemeClr val="accent5"/>
                </a:solidFill>
              </a:rPr>
              <a:t>Client-side checks on name, email and message length with an inline success state.</a:t>
            </a:r>
            <a:endParaRPr lang="en-US" sz="1150" dirty="0"/>
          </a:p>
        </p:txBody>
      </p:sp>
      <p:sp>
        <p:nvSpPr>
          <p:cNvPr id="29" name="feat-5"/>
          <p:cNvSpPr/>
          <p:nvPr/>
        </p:nvSpPr>
        <p:spPr>
          <a:xfrm>
            <a:off x="8065008" y="3950208"/>
            <a:ext cx="3529584" cy="1956816"/>
          </a:xfrm>
          <a:prstGeom prst="roundRect">
            <a:avLst>
              <a:gd name="adj" fmla="val 2804"/>
            </a:avLst>
          </a:prstGeom>
          <a:solidFill>
            <a:schemeClr val="bg2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ile-◆-9.12-4.62"/>
          <p:cNvSpPr/>
          <p:nvPr/>
        </p:nvSpPr>
        <p:spPr>
          <a:xfrm>
            <a:off x="8339328" y="4224528"/>
            <a:ext cx="512064" cy="512064"/>
          </a:xfrm>
          <a:prstGeom prst="roundRect">
            <a:avLst>
              <a:gd name="adj" fmla="val 25000"/>
            </a:avLst>
          </a:prstGeom>
          <a:solidFill>
            <a:srgbClr val="64748B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8339328" y="422452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◆</a:t>
            </a:r>
            <a:endParaRPr lang="en-US" sz="1700" dirty="0"/>
          </a:p>
        </p:txBody>
      </p:sp>
      <p:sp>
        <p:nvSpPr>
          <p:cNvPr id="32" name="Text 30"/>
          <p:cNvSpPr txBox="1"/>
          <p:nvPr/>
        </p:nvSpPr>
        <p:spPr>
          <a:xfrm>
            <a:off x="8339328" y="4864608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chemeClr val="tx1"/>
                </a:solidFill>
              </a:rPr>
              <a:t>Accessible by default</a:t>
            </a:r>
            <a:endParaRPr lang="en-US" sz="1450" dirty="0"/>
          </a:p>
        </p:txBody>
      </p:sp>
      <p:sp>
        <p:nvSpPr>
          <p:cNvPr id="33" name="Text 31"/>
          <p:cNvSpPr txBox="1"/>
          <p:nvPr/>
        </p:nvSpPr>
        <p:spPr>
          <a:xfrm>
            <a:off x="8339328" y="5193792"/>
            <a:ext cx="29809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chemeClr val="accent5"/>
                </a:solidFill>
              </a:rPr>
              <a:t>Semantic markup, ARIA labels, visible focus rings and Escape to close the modal.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23620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66928" y="384048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The apply flow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66928" y="1042416"/>
            <a:ext cx="110276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From a card on the grid to a confirmed application</a:t>
            </a:r>
            <a:endParaRPr lang="en-US" sz="1400" dirty="0"/>
          </a:p>
        </p:txBody>
      </p:sp>
      <p:sp>
        <p:nvSpPr>
          <p:cNvPr id="4" name="mock-job-card"/>
          <p:cNvSpPr/>
          <p:nvPr/>
        </p:nvSpPr>
        <p:spPr>
          <a:xfrm>
            <a:off x="566928" y="1755648"/>
            <a:ext cx="3200400" cy="3200400"/>
          </a:xfrm>
          <a:prstGeom prst="roundRect">
            <a:avLst>
              <a:gd name="adj" fmla="val 1714"/>
            </a:avLst>
          </a:prstGeom>
          <a:solidFill>
            <a:schemeClr val="bg2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mock-logo"/>
          <p:cNvSpPr/>
          <p:nvPr/>
        </p:nvSpPr>
        <p:spPr>
          <a:xfrm>
            <a:off x="804672" y="1993392"/>
            <a:ext cx="512064" cy="512064"/>
          </a:xfrm>
          <a:prstGeom prst="roundRect">
            <a:avLst>
              <a:gd name="adj" fmla="val 23214"/>
            </a:avLst>
          </a:prstGeom>
          <a:solidFill>
            <a:srgbClr val="EEF2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04672" y="199339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F46E5"/>
                </a:solidFill>
              </a:rPr>
              <a:t>DT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426464" y="197510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Frontend Developer Intern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1426464" y="2231136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accent5"/>
                </a:solidFill>
              </a:rPr>
              <a:t>DeoDap Technologies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804672" y="267004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accent5"/>
                </a:solidFill>
              </a:rPr>
              <a:t>Rajkot, Gujarat   ·   3 Months</a:t>
            </a:r>
            <a:endParaRPr lang="en-US" sz="1050" dirty="0"/>
          </a:p>
        </p:txBody>
      </p:sp>
      <p:sp>
        <p:nvSpPr>
          <p:cNvPr id="10" name="mock-tag-0"/>
          <p:cNvSpPr/>
          <p:nvPr/>
        </p:nvSpPr>
        <p:spPr>
          <a:xfrm>
            <a:off x="804672" y="3017520"/>
            <a:ext cx="658368" cy="274320"/>
          </a:xfrm>
          <a:prstGeom prst="roundRect">
            <a:avLst>
              <a:gd name="adj" fmla="val 46667"/>
            </a:avLst>
          </a:prstGeom>
          <a:solidFill>
            <a:schemeClr val="bg2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04672" y="3017520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chemeClr val="accent5"/>
                </a:solidFill>
              </a:rPr>
              <a:t>React</a:t>
            </a:r>
            <a:endParaRPr lang="en-US" sz="850" dirty="0"/>
          </a:p>
        </p:txBody>
      </p:sp>
      <p:sp>
        <p:nvSpPr>
          <p:cNvPr id="12" name="mock-tag-1"/>
          <p:cNvSpPr/>
          <p:nvPr/>
        </p:nvSpPr>
        <p:spPr>
          <a:xfrm>
            <a:off x="1517904" y="3017520"/>
            <a:ext cx="658368" cy="274320"/>
          </a:xfrm>
          <a:prstGeom prst="roundRect">
            <a:avLst>
              <a:gd name="adj" fmla="val 46667"/>
            </a:avLst>
          </a:prstGeom>
          <a:solidFill>
            <a:schemeClr val="bg2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517904" y="3017520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chemeClr val="accent5"/>
                </a:solidFill>
              </a:rPr>
              <a:t>JavaScript</a:t>
            </a:r>
            <a:endParaRPr lang="en-US" sz="850" dirty="0"/>
          </a:p>
        </p:txBody>
      </p:sp>
      <p:sp>
        <p:nvSpPr>
          <p:cNvPr id="14" name="mock-tag-2"/>
          <p:cNvSpPr/>
          <p:nvPr/>
        </p:nvSpPr>
        <p:spPr>
          <a:xfrm>
            <a:off x="2231136" y="3017520"/>
            <a:ext cx="658368" cy="274320"/>
          </a:xfrm>
          <a:prstGeom prst="roundRect">
            <a:avLst>
              <a:gd name="adj" fmla="val 46667"/>
            </a:avLst>
          </a:prstGeom>
          <a:solidFill>
            <a:schemeClr val="bg2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2231136" y="3017520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chemeClr val="accent5"/>
                </a:solidFill>
              </a:rPr>
              <a:t>CSS</a:t>
            </a:r>
            <a:endParaRPr lang="en-US" sz="850" dirty="0"/>
          </a:p>
        </p:txBody>
      </p:sp>
      <p:sp>
        <p:nvSpPr>
          <p:cNvPr id="16" name="mock-tag-3"/>
          <p:cNvSpPr/>
          <p:nvPr/>
        </p:nvSpPr>
        <p:spPr>
          <a:xfrm>
            <a:off x="2944368" y="3017520"/>
            <a:ext cx="658368" cy="274320"/>
          </a:xfrm>
          <a:prstGeom prst="roundRect">
            <a:avLst>
              <a:gd name="adj" fmla="val 46667"/>
            </a:avLst>
          </a:prstGeom>
          <a:solidFill>
            <a:schemeClr val="bg2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2944368" y="3017520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chemeClr val="accent5"/>
                </a:solidFill>
              </a:rPr>
              <a:t>Git</a:t>
            </a:r>
            <a:endParaRPr lang="en-US" sz="850" dirty="0"/>
          </a:p>
        </p:txBody>
      </p:sp>
      <p:sp>
        <p:nvSpPr>
          <p:cNvPr id="18" name="Text 16"/>
          <p:cNvSpPr txBox="1"/>
          <p:nvPr/>
        </p:nvSpPr>
        <p:spPr>
          <a:xfrm>
            <a:off x="804672" y="354787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Rs 8,000 /month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804672" y="380390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chemeClr val="accent5"/>
                </a:solidFill>
              </a:rPr>
              <a:t>4 openings · 2 days ago</a:t>
            </a:r>
            <a:endParaRPr lang="en-US" sz="950" dirty="0"/>
          </a:p>
        </p:txBody>
      </p:sp>
      <p:sp>
        <p:nvSpPr>
          <p:cNvPr id="20" name="mock-apply-btn"/>
          <p:cNvSpPr/>
          <p:nvPr/>
        </p:nvSpPr>
        <p:spPr>
          <a:xfrm>
            <a:off x="2487168" y="3566160"/>
            <a:ext cx="1060704" cy="420624"/>
          </a:xfrm>
          <a:prstGeom prst="roundRect">
            <a:avLst>
              <a:gd name="adj" fmla="val 21739"/>
            </a:avLst>
          </a:prstGeom>
          <a:solidFill>
            <a:schemeClr val="accent1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2487168" y="3566160"/>
            <a:ext cx="10607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Apply Now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566928" y="504748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JobCard.jsx</a:t>
            </a:r>
            <a:endParaRPr lang="en-US" sz="1050" dirty="0"/>
          </a:p>
        </p:txBody>
      </p:sp>
      <p:sp>
        <p:nvSpPr>
          <p:cNvPr id="23" name="flow-arrow"/>
          <p:cNvSpPr/>
          <p:nvPr/>
        </p:nvSpPr>
        <p:spPr>
          <a:xfrm>
            <a:off x="3950208" y="3218688"/>
            <a:ext cx="365760" cy="274320"/>
          </a:xfrm>
          <a:prstGeom prst="rightArrow">
            <a:avLst/>
          </a:prstGeom>
          <a:solidFill>
            <a:srgbClr val="4F46E5"/>
          </a:solidFill>
          <a:ln/>
        </p:spPr>
      </p:sp>
      <p:sp>
        <p:nvSpPr>
          <p:cNvPr id="24" name="mock-modal"/>
          <p:cNvSpPr/>
          <p:nvPr/>
        </p:nvSpPr>
        <p:spPr>
          <a:xfrm>
            <a:off x="4517136" y="1755648"/>
            <a:ext cx="3200400" cy="3200400"/>
          </a:xfrm>
          <a:prstGeom prst="roundRect">
            <a:avLst>
              <a:gd name="adj" fmla="val 1714"/>
            </a:avLst>
          </a:prstGeom>
          <a:solidFill>
            <a:schemeClr val="bg2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754880" y="1956816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Apply for Frontend Developer Intern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7242048" y="19385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×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4754880" y="254203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chemeClr val="tx1"/>
                </a:solidFill>
              </a:rPr>
              <a:t>Full Name *</a:t>
            </a:r>
            <a:endParaRPr lang="en-US" sz="900" dirty="0"/>
          </a:p>
        </p:txBody>
      </p:sp>
      <p:sp>
        <p:nvSpPr>
          <p:cNvPr id="28" name="modal-field-0"/>
          <p:cNvSpPr/>
          <p:nvPr/>
        </p:nvSpPr>
        <p:spPr>
          <a:xfrm>
            <a:off x="4754880" y="2734056"/>
            <a:ext cx="2724912" cy="237744"/>
          </a:xfrm>
          <a:prstGeom prst="roundRect">
            <a:avLst>
              <a:gd name="adj" fmla="val 19231"/>
            </a:avLst>
          </a:prstGeom>
          <a:solidFill>
            <a:schemeClr val="bg1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754880" y="301752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chemeClr val="tx1"/>
                </a:solidFill>
              </a:rPr>
              <a:t>Email *</a:t>
            </a:r>
            <a:endParaRPr lang="en-US" sz="900" dirty="0"/>
          </a:p>
        </p:txBody>
      </p:sp>
      <p:sp>
        <p:nvSpPr>
          <p:cNvPr id="30" name="modal-field-1"/>
          <p:cNvSpPr/>
          <p:nvPr/>
        </p:nvSpPr>
        <p:spPr>
          <a:xfrm>
            <a:off x="4754880" y="3209544"/>
            <a:ext cx="2724912" cy="237744"/>
          </a:xfrm>
          <a:prstGeom prst="roundRect">
            <a:avLst>
              <a:gd name="adj" fmla="val 19231"/>
            </a:avLst>
          </a:prstGeom>
          <a:solidFill>
            <a:schemeClr val="bg1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4754880" y="349300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chemeClr val="tx1"/>
                </a:solidFill>
              </a:rPr>
              <a:t>Phone *</a:t>
            </a:r>
            <a:endParaRPr lang="en-US" sz="900" dirty="0"/>
          </a:p>
        </p:txBody>
      </p:sp>
      <p:sp>
        <p:nvSpPr>
          <p:cNvPr id="32" name="modal-field-2"/>
          <p:cNvSpPr/>
          <p:nvPr/>
        </p:nvSpPr>
        <p:spPr>
          <a:xfrm>
            <a:off x="4754880" y="3685032"/>
            <a:ext cx="2724912" cy="237744"/>
          </a:xfrm>
          <a:prstGeom prst="roundRect">
            <a:avLst>
              <a:gd name="adj" fmla="val 19231"/>
            </a:avLst>
          </a:prstGeom>
          <a:solidFill>
            <a:schemeClr val="bg1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4754880" y="3968496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chemeClr val="tx1"/>
                </a:solidFill>
              </a:rPr>
              <a:t>College / University *</a:t>
            </a:r>
            <a:endParaRPr lang="en-US" sz="900" dirty="0"/>
          </a:p>
        </p:txBody>
      </p:sp>
      <p:sp>
        <p:nvSpPr>
          <p:cNvPr id="34" name="modal-field-3"/>
          <p:cNvSpPr/>
          <p:nvPr/>
        </p:nvSpPr>
        <p:spPr>
          <a:xfrm>
            <a:off x="4754880" y="4160520"/>
            <a:ext cx="2724912" cy="237744"/>
          </a:xfrm>
          <a:prstGeom prst="roundRect">
            <a:avLst>
              <a:gd name="adj" fmla="val 19231"/>
            </a:avLst>
          </a:prstGeom>
          <a:solidFill>
            <a:schemeClr val="bg1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modal-submit"/>
          <p:cNvSpPr/>
          <p:nvPr/>
        </p:nvSpPr>
        <p:spPr>
          <a:xfrm>
            <a:off x="4754880" y="4498848"/>
            <a:ext cx="2724912" cy="347472"/>
          </a:xfrm>
          <a:prstGeom prst="roundRect">
            <a:avLst>
              <a:gd name="adj" fmla="val 21053"/>
            </a:avLst>
          </a:prstGeom>
          <a:solidFill>
            <a:schemeClr val="accent1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4754880" y="4498848"/>
            <a:ext cx="2724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Submit Application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4517136" y="504748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ApplyModal.jsx</a:t>
            </a:r>
            <a:endParaRPr lang="en-US" sz="1050" dirty="0"/>
          </a:p>
        </p:txBody>
      </p:sp>
      <p:sp>
        <p:nvSpPr>
          <p:cNvPr id="38" name="steps-panel"/>
          <p:cNvSpPr/>
          <p:nvPr/>
        </p:nvSpPr>
        <p:spPr>
          <a:xfrm>
            <a:off x="8028432" y="1755648"/>
            <a:ext cx="3566160" cy="3566160"/>
          </a:xfrm>
          <a:prstGeom prst="roundRect">
            <a:avLst>
              <a:gd name="adj" fmla="val 1538"/>
            </a:avLst>
          </a:prstGeom>
          <a:solidFill>
            <a:schemeClr val="bg2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step-dot-0"/>
          <p:cNvSpPr/>
          <p:nvPr/>
        </p:nvSpPr>
        <p:spPr>
          <a:xfrm>
            <a:off x="8284464" y="2029968"/>
            <a:ext cx="310896" cy="310896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8284464" y="20299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41" name="Text 39"/>
          <p:cNvSpPr txBox="1"/>
          <p:nvPr/>
        </p:nvSpPr>
        <p:spPr>
          <a:xfrm>
            <a:off x="8705088" y="201168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Lift state up</a:t>
            </a:r>
            <a:endParaRPr lang="en-US" sz="1250" dirty="0"/>
          </a:p>
        </p:txBody>
      </p:sp>
      <p:sp>
        <p:nvSpPr>
          <p:cNvPr id="42" name="Text 40"/>
          <p:cNvSpPr txBox="1"/>
          <p:nvPr/>
        </p:nvSpPr>
        <p:spPr>
          <a:xfrm>
            <a:off x="8705088" y="22860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chemeClr val="accent5"/>
                </a:solidFill>
              </a:rPr>
              <a:t>Jobs.jsx holds selectedJob; the card only fires onApply.</a:t>
            </a:r>
            <a:endParaRPr lang="en-US" sz="1050" dirty="0"/>
          </a:p>
        </p:txBody>
      </p:sp>
      <p:sp>
        <p:nvSpPr>
          <p:cNvPr id="43" name="step-dot-1"/>
          <p:cNvSpPr/>
          <p:nvPr/>
        </p:nvSpPr>
        <p:spPr>
          <a:xfrm>
            <a:off x="8284464" y="2834640"/>
            <a:ext cx="310896" cy="310896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44" name="Text 42"/>
          <p:cNvSpPr txBox="1"/>
          <p:nvPr/>
        </p:nvSpPr>
        <p:spPr>
          <a:xfrm>
            <a:off x="8284464" y="28346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45" name="Text 43"/>
          <p:cNvSpPr txBox="1"/>
          <p:nvPr/>
        </p:nvSpPr>
        <p:spPr>
          <a:xfrm>
            <a:off x="8705088" y="281635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Conditional render</a:t>
            </a:r>
            <a:endParaRPr lang="en-US" sz="1250" dirty="0"/>
          </a:p>
        </p:txBody>
      </p:sp>
      <p:sp>
        <p:nvSpPr>
          <p:cNvPr id="46" name="Text 44"/>
          <p:cNvSpPr txBox="1"/>
          <p:nvPr/>
        </p:nvSpPr>
        <p:spPr>
          <a:xfrm>
            <a:off x="8705088" y="3090672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chemeClr val="accent5"/>
                </a:solidFill>
              </a:rPr>
              <a:t>The modal mounts only when a job is selected.</a:t>
            </a:r>
            <a:endParaRPr lang="en-US" sz="1050" dirty="0"/>
          </a:p>
        </p:txBody>
      </p:sp>
      <p:sp>
        <p:nvSpPr>
          <p:cNvPr id="47" name="step-dot-2"/>
          <p:cNvSpPr/>
          <p:nvPr/>
        </p:nvSpPr>
        <p:spPr>
          <a:xfrm>
            <a:off x="8284464" y="3639312"/>
            <a:ext cx="310896" cy="310896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48" name="Text 46"/>
          <p:cNvSpPr txBox="1"/>
          <p:nvPr/>
        </p:nvSpPr>
        <p:spPr>
          <a:xfrm>
            <a:off x="8284464" y="36393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49" name="Text 47"/>
          <p:cNvSpPr txBox="1"/>
          <p:nvPr/>
        </p:nvSpPr>
        <p:spPr>
          <a:xfrm>
            <a:off x="8705088" y="3621024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Validate on submit</a:t>
            </a:r>
            <a:endParaRPr lang="en-US" sz="1250" dirty="0"/>
          </a:p>
        </p:txBody>
      </p:sp>
      <p:sp>
        <p:nvSpPr>
          <p:cNvPr id="50" name="Text 48"/>
          <p:cNvSpPr txBox="1"/>
          <p:nvPr/>
        </p:nvSpPr>
        <p:spPr>
          <a:xfrm>
            <a:off x="8705088" y="3895344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chemeClr val="accent5"/>
                </a:solidFill>
              </a:rPr>
              <a:t>Email format and a 10-digit phone are checked before success.</a:t>
            </a:r>
            <a:endParaRPr lang="en-US" sz="1050" dirty="0"/>
          </a:p>
        </p:txBody>
      </p:sp>
      <p:sp>
        <p:nvSpPr>
          <p:cNvPr id="51" name="step-dot-3"/>
          <p:cNvSpPr/>
          <p:nvPr/>
        </p:nvSpPr>
        <p:spPr>
          <a:xfrm>
            <a:off x="8284464" y="4443984"/>
            <a:ext cx="310896" cy="310896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52" name="Text 50"/>
          <p:cNvSpPr txBox="1"/>
          <p:nvPr/>
        </p:nvSpPr>
        <p:spPr>
          <a:xfrm>
            <a:off x="8284464" y="44439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53" name="Text 51"/>
          <p:cNvSpPr txBox="1"/>
          <p:nvPr/>
        </p:nvSpPr>
        <p:spPr>
          <a:xfrm>
            <a:off x="8705088" y="442569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Confirm and reset</a:t>
            </a:r>
            <a:endParaRPr lang="en-US" sz="1250" dirty="0"/>
          </a:p>
        </p:txBody>
      </p:sp>
      <p:sp>
        <p:nvSpPr>
          <p:cNvPr id="54" name="Text 52"/>
          <p:cNvSpPr txBox="1"/>
          <p:nvPr/>
        </p:nvSpPr>
        <p:spPr>
          <a:xfrm>
            <a:off x="8705088" y="4700016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chemeClr val="accent5"/>
                </a:solidFill>
              </a:rPr>
              <a:t>A success panel replaces the form, then closes cleanly.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23620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66928" y="384048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Responsive design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66928" y="1042416"/>
            <a:ext cx="110276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One stylesheet, four breakpoints, no horizontal scroll at any width</a:t>
            </a:r>
            <a:endParaRPr lang="en-US" sz="1400" dirty="0"/>
          </a:p>
        </p:txBody>
      </p:sp>
      <p:sp>
        <p:nvSpPr>
          <p:cNvPr id="4" name="device-0"/>
          <p:cNvSpPr/>
          <p:nvPr/>
        </p:nvSpPr>
        <p:spPr>
          <a:xfrm>
            <a:off x="566928" y="1792224"/>
            <a:ext cx="4114800" cy="2651760"/>
          </a:xfrm>
          <a:prstGeom prst="roundRect">
            <a:avLst>
              <a:gd name="adj" fmla="val 1724"/>
            </a:avLst>
          </a:prstGeom>
          <a:solidFill>
            <a:schemeClr val="bg2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device-nav-0"/>
          <p:cNvSpPr/>
          <p:nvPr/>
        </p:nvSpPr>
        <p:spPr>
          <a:xfrm>
            <a:off x="676656" y="1901952"/>
            <a:ext cx="3895344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49808" y="1901952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chemeClr val="tx1"/>
                </a:solidFill>
              </a:rPr>
              <a:t>DG Interns Hub</a:t>
            </a:r>
            <a:endParaRPr lang="en-US" sz="750" dirty="0"/>
          </a:p>
        </p:txBody>
      </p:sp>
      <p:sp>
        <p:nvSpPr>
          <p:cNvPr id="7" name="device-hero-0"/>
          <p:cNvSpPr/>
          <p:nvPr/>
        </p:nvSpPr>
        <p:spPr>
          <a:xfrm>
            <a:off x="676656" y="2231136"/>
            <a:ext cx="3895344" cy="45720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8" name="device-card-0-0-0"/>
          <p:cNvSpPr/>
          <p:nvPr/>
        </p:nvSpPr>
        <p:spPr>
          <a:xfrm>
            <a:off x="676656" y="2798064"/>
            <a:ext cx="1237488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device-card-logo-0-0-0"/>
          <p:cNvSpPr/>
          <p:nvPr/>
        </p:nvSpPr>
        <p:spPr>
          <a:xfrm>
            <a:off x="749808" y="2871216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06B6D4"/>
          </a:solidFill>
          <a:ln/>
        </p:spPr>
      </p:sp>
      <p:sp>
        <p:nvSpPr>
          <p:cNvPr id="10" name="device-card-0-0-1"/>
          <p:cNvSpPr/>
          <p:nvPr/>
        </p:nvSpPr>
        <p:spPr>
          <a:xfrm>
            <a:off x="2005584" y="2798064"/>
            <a:ext cx="1237488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device-card-logo-0-0-1"/>
          <p:cNvSpPr/>
          <p:nvPr/>
        </p:nvSpPr>
        <p:spPr>
          <a:xfrm>
            <a:off x="2078736" y="2871216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06B6D4"/>
          </a:solidFill>
          <a:ln/>
        </p:spPr>
      </p:sp>
      <p:sp>
        <p:nvSpPr>
          <p:cNvPr id="12" name="device-card-0-0-2"/>
          <p:cNvSpPr/>
          <p:nvPr/>
        </p:nvSpPr>
        <p:spPr>
          <a:xfrm>
            <a:off x="3334512" y="2798064"/>
            <a:ext cx="1237488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device-card-logo-0-0-2"/>
          <p:cNvSpPr/>
          <p:nvPr/>
        </p:nvSpPr>
        <p:spPr>
          <a:xfrm>
            <a:off x="3407664" y="2871216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06B6D4"/>
          </a:solidFill>
          <a:ln/>
        </p:spPr>
      </p:sp>
      <p:sp>
        <p:nvSpPr>
          <p:cNvPr id="14" name="device-card-0-1-0"/>
          <p:cNvSpPr/>
          <p:nvPr/>
        </p:nvSpPr>
        <p:spPr>
          <a:xfrm>
            <a:off x="676656" y="3547872"/>
            <a:ext cx="1237488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device-card-logo-0-1-0"/>
          <p:cNvSpPr/>
          <p:nvPr/>
        </p:nvSpPr>
        <p:spPr>
          <a:xfrm>
            <a:off x="749808" y="3621024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06B6D4"/>
          </a:solidFill>
          <a:ln/>
        </p:spPr>
      </p:sp>
      <p:sp>
        <p:nvSpPr>
          <p:cNvPr id="16" name="device-card-0-1-1"/>
          <p:cNvSpPr/>
          <p:nvPr/>
        </p:nvSpPr>
        <p:spPr>
          <a:xfrm>
            <a:off x="2005584" y="3547872"/>
            <a:ext cx="1237488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device-card-logo-0-1-1"/>
          <p:cNvSpPr/>
          <p:nvPr/>
        </p:nvSpPr>
        <p:spPr>
          <a:xfrm>
            <a:off x="2078736" y="3621024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06B6D4"/>
          </a:solidFill>
          <a:ln/>
        </p:spPr>
      </p:sp>
      <p:sp>
        <p:nvSpPr>
          <p:cNvPr id="18" name="device-card-0-1-2"/>
          <p:cNvSpPr/>
          <p:nvPr/>
        </p:nvSpPr>
        <p:spPr>
          <a:xfrm>
            <a:off x="3334512" y="3547872"/>
            <a:ext cx="1237488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device-card-logo-0-1-2"/>
          <p:cNvSpPr/>
          <p:nvPr/>
        </p:nvSpPr>
        <p:spPr>
          <a:xfrm>
            <a:off x="3407664" y="3621024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06B6D4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66928" y="45537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5"/>
                </a:solidFill>
              </a:rPr>
              <a:t>Desktop  ·  1200px+</a:t>
            </a:r>
            <a:endParaRPr lang="en-US" sz="1100" dirty="0"/>
          </a:p>
        </p:txBody>
      </p:sp>
      <p:sp>
        <p:nvSpPr>
          <p:cNvPr id="21" name="device-1"/>
          <p:cNvSpPr/>
          <p:nvPr/>
        </p:nvSpPr>
        <p:spPr>
          <a:xfrm>
            <a:off x="4992624" y="1792224"/>
            <a:ext cx="2286000" cy="2651760"/>
          </a:xfrm>
          <a:prstGeom prst="roundRect">
            <a:avLst>
              <a:gd name="adj" fmla="val 2000"/>
            </a:avLst>
          </a:prstGeom>
          <a:solidFill>
            <a:schemeClr val="bg2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device-nav-1"/>
          <p:cNvSpPr/>
          <p:nvPr/>
        </p:nvSpPr>
        <p:spPr>
          <a:xfrm>
            <a:off x="5102352" y="1901952"/>
            <a:ext cx="2066544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175504" y="1901952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chemeClr val="tx1"/>
                </a:solidFill>
              </a:rPr>
              <a:t>DG Interns Hub</a:t>
            </a:r>
            <a:endParaRPr lang="en-US" sz="750" dirty="0"/>
          </a:p>
        </p:txBody>
      </p:sp>
      <p:sp>
        <p:nvSpPr>
          <p:cNvPr id="24" name="device-hero-1"/>
          <p:cNvSpPr/>
          <p:nvPr/>
        </p:nvSpPr>
        <p:spPr>
          <a:xfrm>
            <a:off x="5102352" y="2231136"/>
            <a:ext cx="2066544" cy="45720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25" name="device-card-1-0-0"/>
          <p:cNvSpPr/>
          <p:nvPr/>
        </p:nvSpPr>
        <p:spPr>
          <a:xfrm>
            <a:off x="5102352" y="2798064"/>
            <a:ext cx="987552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device-card-logo-1-0-0"/>
          <p:cNvSpPr/>
          <p:nvPr/>
        </p:nvSpPr>
        <p:spPr>
          <a:xfrm>
            <a:off x="5175504" y="2871216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06B6D4"/>
          </a:solidFill>
          <a:ln/>
        </p:spPr>
      </p:sp>
      <p:sp>
        <p:nvSpPr>
          <p:cNvPr id="27" name="device-card-1-0-1"/>
          <p:cNvSpPr/>
          <p:nvPr/>
        </p:nvSpPr>
        <p:spPr>
          <a:xfrm>
            <a:off x="6181344" y="2798064"/>
            <a:ext cx="987552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device-card-logo-1-0-1"/>
          <p:cNvSpPr/>
          <p:nvPr/>
        </p:nvSpPr>
        <p:spPr>
          <a:xfrm>
            <a:off x="6254496" y="2871216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06B6D4"/>
          </a:solidFill>
          <a:ln/>
        </p:spPr>
      </p:sp>
      <p:sp>
        <p:nvSpPr>
          <p:cNvPr id="29" name="device-card-1-1-0"/>
          <p:cNvSpPr/>
          <p:nvPr/>
        </p:nvSpPr>
        <p:spPr>
          <a:xfrm>
            <a:off x="5102352" y="3547872"/>
            <a:ext cx="987552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device-card-logo-1-1-0"/>
          <p:cNvSpPr/>
          <p:nvPr/>
        </p:nvSpPr>
        <p:spPr>
          <a:xfrm>
            <a:off x="5175504" y="3621024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06B6D4"/>
          </a:solidFill>
          <a:ln/>
        </p:spPr>
      </p:sp>
      <p:sp>
        <p:nvSpPr>
          <p:cNvPr id="31" name="device-card-1-1-1"/>
          <p:cNvSpPr/>
          <p:nvPr/>
        </p:nvSpPr>
        <p:spPr>
          <a:xfrm>
            <a:off x="6181344" y="3547872"/>
            <a:ext cx="987552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device-card-logo-1-1-1"/>
          <p:cNvSpPr/>
          <p:nvPr/>
        </p:nvSpPr>
        <p:spPr>
          <a:xfrm>
            <a:off x="6254496" y="3621024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06B6D4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4992624" y="455371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5"/>
                </a:solidFill>
              </a:rPr>
              <a:t>Tablet  ·  900px</a:t>
            </a:r>
            <a:endParaRPr lang="en-US" sz="1100" dirty="0"/>
          </a:p>
        </p:txBody>
      </p:sp>
      <p:sp>
        <p:nvSpPr>
          <p:cNvPr id="34" name="device-2"/>
          <p:cNvSpPr/>
          <p:nvPr/>
        </p:nvSpPr>
        <p:spPr>
          <a:xfrm>
            <a:off x="7589520" y="1792224"/>
            <a:ext cx="1371600" cy="26517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device-nav-2"/>
          <p:cNvSpPr/>
          <p:nvPr/>
        </p:nvSpPr>
        <p:spPr>
          <a:xfrm>
            <a:off x="7699248" y="1901952"/>
            <a:ext cx="1152144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7772400" y="1901952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chemeClr val="tx1"/>
                </a:solidFill>
              </a:rPr>
              <a:t>DG   ≡</a:t>
            </a:r>
            <a:endParaRPr lang="en-US" sz="750" dirty="0"/>
          </a:p>
        </p:txBody>
      </p:sp>
      <p:sp>
        <p:nvSpPr>
          <p:cNvPr id="37" name="device-hero-2"/>
          <p:cNvSpPr/>
          <p:nvPr/>
        </p:nvSpPr>
        <p:spPr>
          <a:xfrm>
            <a:off x="7699248" y="2231136"/>
            <a:ext cx="1152144" cy="45720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8" name="device-card-2-0-0"/>
          <p:cNvSpPr/>
          <p:nvPr/>
        </p:nvSpPr>
        <p:spPr>
          <a:xfrm>
            <a:off x="7699248" y="2798064"/>
            <a:ext cx="1152144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device-card-logo-2-0-0"/>
          <p:cNvSpPr/>
          <p:nvPr/>
        </p:nvSpPr>
        <p:spPr>
          <a:xfrm>
            <a:off x="7772400" y="2871216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06B6D4"/>
          </a:solidFill>
          <a:ln/>
        </p:spPr>
      </p:sp>
      <p:sp>
        <p:nvSpPr>
          <p:cNvPr id="40" name="device-card-2-1-0"/>
          <p:cNvSpPr/>
          <p:nvPr/>
        </p:nvSpPr>
        <p:spPr>
          <a:xfrm>
            <a:off x="7699248" y="3547872"/>
            <a:ext cx="1152144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device-card-logo-2-1-0"/>
          <p:cNvSpPr/>
          <p:nvPr/>
        </p:nvSpPr>
        <p:spPr>
          <a:xfrm>
            <a:off x="7772400" y="3621024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06B6D4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7589520" y="455371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5"/>
                </a:solidFill>
              </a:rPr>
              <a:t>Mobile  ·  420px</a:t>
            </a:r>
            <a:endParaRPr lang="en-US" sz="1100" dirty="0"/>
          </a:p>
        </p:txBody>
      </p:sp>
      <p:sp>
        <p:nvSpPr>
          <p:cNvPr id="43" name="css-panel"/>
          <p:cNvSpPr/>
          <p:nvPr/>
        </p:nvSpPr>
        <p:spPr>
          <a:xfrm>
            <a:off x="9272016" y="1792224"/>
            <a:ext cx="2322576" cy="2651760"/>
          </a:xfrm>
          <a:prstGeom prst="roundRect">
            <a:avLst>
              <a:gd name="adj" fmla="val 2362"/>
            </a:avLst>
          </a:prstGeom>
          <a:solidFill>
            <a:schemeClr val="tx1"/>
          </a:solidFill>
          <a:ln/>
        </p:spPr>
      </p:sp>
      <p:sp>
        <p:nvSpPr>
          <p:cNvPr id="44" name="Text 42"/>
          <p:cNvSpPr txBox="1"/>
          <p:nvPr/>
        </p:nvSpPr>
        <p:spPr>
          <a:xfrm>
            <a:off x="9491472" y="1956816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30" kern="0" dirty="0">
                <a:solidFill>
                  <a:srgbClr val="64748B"/>
                </a:solidFill>
              </a:rPr>
              <a:t>THE CORE RULE</a:t>
            </a:r>
            <a:endParaRPr lang="en-US" sz="850" dirty="0"/>
          </a:p>
        </p:txBody>
      </p:sp>
      <p:sp>
        <p:nvSpPr>
          <p:cNvPr id="45" name="css-line-0"/>
          <p:cNvSpPr txBox="1"/>
          <p:nvPr/>
        </p:nvSpPr>
        <p:spPr>
          <a:xfrm>
            <a:off x="9491472" y="2249424"/>
            <a:ext cx="21031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.grid-3 {</a:t>
            </a:r>
            <a:endParaRPr lang="en-US" sz="900" dirty="0"/>
          </a:p>
        </p:txBody>
      </p:sp>
      <p:sp>
        <p:nvSpPr>
          <p:cNvPr id="46" name="css-line-1"/>
          <p:cNvSpPr txBox="1"/>
          <p:nvPr/>
        </p:nvSpPr>
        <p:spPr>
          <a:xfrm>
            <a:off x="9491472" y="2464308"/>
            <a:ext cx="21031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display: grid;</a:t>
            </a:r>
            <a:endParaRPr lang="en-US" sz="900" dirty="0"/>
          </a:p>
        </p:txBody>
      </p:sp>
      <p:sp>
        <p:nvSpPr>
          <p:cNvPr id="47" name="css-line-2"/>
          <p:cNvSpPr txBox="1"/>
          <p:nvPr/>
        </p:nvSpPr>
        <p:spPr>
          <a:xfrm>
            <a:off x="9491472" y="2679192"/>
            <a:ext cx="21031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grid-template-columns:</a:t>
            </a:r>
            <a:endParaRPr lang="en-US" sz="900" dirty="0"/>
          </a:p>
        </p:txBody>
      </p:sp>
      <p:sp>
        <p:nvSpPr>
          <p:cNvPr id="48" name="css-line-3"/>
          <p:cNvSpPr txBox="1"/>
          <p:nvPr/>
        </p:nvSpPr>
        <p:spPr>
          <a:xfrm>
            <a:off x="9491472" y="2894076"/>
            <a:ext cx="21031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6B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repeat(auto-fit,</a:t>
            </a:r>
            <a:endParaRPr lang="en-US" sz="900" dirty="0"/>
          </a:p>
        </p:txBody>
      </p:sp>
      <p:sp>
        <p:nvSpPr>
          <p:cNvPr id="49" name="css-line-4"/>
          <p:cNvSpPr txBox="1"/>
          <p:nvPr/>
        </p:nvSpPr>
        <p:spPr>
          <a:xfrm>
            <a:off x="9491472" y="3108960"/>
            <a:ext cx="21031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6B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minmax(280px, 1fr));</a:t>
            </a:r>
            <a:endParaRPr lang="en-US" sz="900" dirty="0"/>
          </a:p>
        </p:txBody>
      </p:sp>
      <p:sp>
        <p:nvSpPr>
          <p:cNvPr id="50" name="css-line-5"/>
          <p:cNvSpPr txBox="1"/>
          <p:nvPr/>
        </p:nvSpPr>
        <p:spPr>
          <a:xfrm>
            <a:off x="9491472" y="3323844"/>
            <a:ext cx="21031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gap: 24px;</a:t>
            </a:r>
            <a:endParaRPr lang="en-US" sz="900" dirty="0"/>
          </a:p>
        </p:txBody>
      </p:sp>
      <p:sp>
        <p:nvSpPr>
          <p:cNvPr id="51" name="css-line-6"/>
          <p:cNvSpPr txBox="1"/>
          <p:nvPr/>
        </p:nvSpPr>
        <p:spPr>
          <a:xfrm>
            <a:off x="9491472" y="3538728"/>
            <a:ext cx="21031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</p:txBody>
      </p:sp>
      <p:sp>
        <p:nvSpPr>
          <p:cNvPr id="52" name="Text 50"/>
          <p:cNvSpPr txBox="1"/>
          <p:nvPr/>
        </p:nvSpPr>
        <p:spPr>
          <a:xfrm>
            <a:off x="9491472" y="3803904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950" dirty="0">
                <a:solidFill>
                  <a:srgbClr val="94A3B8"/>
                </a:solidFill>
              </a:rPr>
              <a:t>Cards reflow on their own at every width. The four breakpoints below only handle structural changes.</a:t>
            </a:r>
            <a:endParaRPr lang="en-US" sz="950" dirty="0"/>
          </a:p>
        </p:txBody>
      </p:sp>
      <p:sp>
        <p:nvSpPr>
          <p:cNvPr id="53" name="Text 51"/>
          <p:cNvSpPr txBox="1"/>
          <p:nvPr/>
        </p:nvSpPr>
        <p:spPr>
          <a:xfrm>
            <a:off x="9272016" y="4553712"/>
            <a:ext cx="2322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3"/>
                </a:solidFill>
              </a:rPr>
              <a:t>No media query needed</a:t>
            </a:r>
            <a:endParaRPr lang="en-US" sz="1100" dirty="0"/>
          </a:p>
        </p:txBody>
      </p:sp>
      <p:graphicFrame>
        <p:nvGraphicFramePr>
          <p:cNvPr id="8" name="breakpoint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5029200"/>
          <a:ext cx="11027664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650224"/>
              </a:tblGrid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BREAKPOINT</a:t>
                      </a:r>
                      <a:endParaRPr lang="en-US" sz="10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WHAT CHANGES</a:t>
                      </a:r>
                      <a:endParaRPr lang="en-US" sz="10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Above 900px</a:t>
                      </a:r>
                      <a:endParaRPr lang="en-US" sz="11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Two-column hero, three-column job grid, four-column footer</a:t>
                      </a:r>
                      <a:endParaRPr lang="en-US" sz="11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900px and below</a:t>
                      </a:r>
                      <a:endParaRPr lang="en-US" sz="11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Hero and contact stack to one column, footer drops to two</a:t>
                      </a:r>
                      <a:endParaRPr lang="en-US" sz="11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768px and below</a:t>
                      </a:r>
                      <a:endParaRPr lang="en-US" sz="11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Hamburger menu, filters stack, buttons go full width</a:t>
                      </a:r>
                      <a:endParaRPr lang="en-US" sz="11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520px and below</a:t>
                      </a:r>
                      <a:endParaRPr lang="en-US" sz="11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Single-column footer, tighter form padding, stacked CTAs</a:t>
                      </a:r>
                      <a:endParaRPr lang="en-US" sz="11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23620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66928" y="475488"/>
            <a:ext cx="11027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What I learned, and where it lives</a:t>
            </a:r>
            <a:endParaRPr lang="en-US" sz="3200" dirty="0"/>
          </a:p>
        </p:txBody>
      </p:sp>
      <p:sp>
        <p:nvSpPr>
          <p:cNvPr id="3" name="learn-card-0"/>
          <p:cNvSpPr/>
          <p:nvPr/>
        </p:nvSpPr>
        <p:spPr>
          <a:xfrm>
            <a:off x="566928" y="1517904"/>
            <a:ext cx="3529584" cy="2487168"/>
          </a:xfrm>
          <a:prstGeom prst="roundRect">
            <a:avLst>
              <a:gd name="adj" fmla="val 2206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" name="tile-1-0.9199999999999999-1.96"/>
          <p:cNvSpPr/>
          <p:nvPr/>
        </p:nvSpPr>
        <p:spPr>
          <a:xfrm>
            <a:off x="841248" y="1792224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4F46E5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41248" y="17922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41248" y="2377440"/>
            <a:ext cx="29809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Component thinking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41248" y="2706624"/>
            <a:ext cx="2980944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CBD5E1"/>
                </a:solidFill>
              </a:rPr>
              <a:t>One JobCard renders nine very different listings. Designing props before markup made the grid, the featured section and the search results share a single component.</a:t>
            </a:r>
            <a:endParaRPr lang="en-US" sz="1150" dirty="0"/>
          </a:p>
        </p:txBody>
      </p:sp>
      <p:sp>
        <p:nvSpPr>
          <p:cNvPr id="8" name="learn-card-1"/>
          <p:cNvSpPr/>
          <p:nvPr/>
        </p:nvSpPr>
        <p:spPr>
          <a:xfrm>
            <a:off x="4315968" y="1517904"/>
            <a:ext cx="3529584" cy="2487168"/>
          </a:xfrm>
          <a:prstGeom prst="roundRect">
            <a:avLst>
              <a:gd name="adj" fmla="val 2206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tile-2-5.02-1.96"/>
          <p:cNvSpPr/>
          <p:nvPr/>
        </p:nvSpPr>
        <p:spPr>
          <a:xfrm>
            <a:off x="4590288" y="1792224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4F46E5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590288" y="17922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4590288" y="2377440"/>
            <a:ext cx="29809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State belongs to the owner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590288" y="2706624"/>
            <a:ext cx="2980944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CBD5E1"/>
                </a:solidFill>
              </a:rPr>
              <a:t>Keeping selectedJob in the page rather than the card is what makes the modal work from both Home and Jobs without duplicating logic.</a:t>
            </a:r>
            <a:endParaRPr lang="en-US" sz="1150" dirty="0"/>
          </a:p>
        </p:txBody>
      </p:sp>
      <p:sp>
        <p:nvSpPr>
          <p:cNvPr id="13" name="learn-card-2"/>
          <p:cNvSpPr/>
          <p:nvPr/>
        </p:nvSpPr>
        <p:spPr>
          <a:xfrm>
            <a:off x="8065008" y="1517904"/>
            <a:ext cx="3529584" cy="2487168"/>
          </a:xfrm>
          <a:prstGeom prst="roundRect">
            <a:avLst>
              <a:gd name="adj" fmla="val 2206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4" name="tile-3-9.12-1.96"/>
          <p:cNvSpPr/>
          <p:nvPr/>
        </p:nvSpPr>
        <p:spPr>
          <a:xfrm>
            <a:off x="8339328" y="1792224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4F46E5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339328" y="17922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8339328" y="2377440"/>
            <a:ext cx="29809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Routing needs a server rule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8339328" y="2706624"/>
            <a:ext cx="2980944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CBD5E1"/>
                </a:solidFill>
              </a:rPr>
              <a:t>A client-side route 404s on refresh until the host is told to serve index.html — hence the _redirects and vercel.json files.</a:t>
            </a:r>
            <a:endParaRPr lang="en-US" sz="1150" dirty="0"/>
          </a:p>
        </p:txBody>
      </p:sp>
      <p:sp>
        <p:nvSpPr>
          <p:cNvPr id="18" name="links-band"/>
          <p:cNvSpPr/>
          <p:nvPr/>
        </p:nvSpPr>
        <p:spPr>
          <a:xfrm>
            <a:off x="566928" y="4334256"/>
            <a:ext cx="11027664" cy="1371600"/>
          </a:xfrm>
          <a:prstGeom prst="roundRect">
            <a:avLst>
              <a:gd name="adj" fmla="val 4000"/>
            </a:avLst>
          </a:prstGeom>
          <a:solidFill>
            <a:srgbClr val="4F46E5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987552" y="4572000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See it live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987552" y="4882896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7D2FE"/>
                </a:solidFill>
              </a:rPr>
              <a:t>Source code and deployed build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0" y="457200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40" kern="0" dirty="0">
                <a:solidFill>
                  <a:srgbClr val="C7D2FE"/>
                </a:solidFill>
              </a:rPr>
              <a:t>GITHUB</a:t>
            </a:r>
            <a:endParaRPr lang="en-US" sz="950" dirty="0"/>
          </a:p>
        </p:txBody>
      </p:sp>
      <p:sp>
        <p:nvSpPr>
          <p:cNvPr id="22" name="Text 20"/>
          <p:cNvSpPr txBox="1"/>
          <p:nvPr/>
        </p:nvSpPr>
        <p:spPr>
          <a:xfrm>
            <a:off x="5486400" y="4846320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github.com/&lt;your-username&gt;/dg-interns-hub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8595360" y="457200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40" kern="0" dirty="0">
                <a:solidFill>
                  <a:srgbClr val="C7D2FE"/>
                </a:solidFill>
              </a:rPr>
              <a:t>LIVE SITE</a:t>
            </a:r>
            <a:endParaRPr lang="en-US" sz="950" dirty="0"/>
          </a:p>
        </p:txBody>
      </p:sp>
      <p:sp>
        <p:nvSpPr>
          <p:cNvPr id="24" name="Text 22"/>
          <p:cNvSpPr txBox="1"/>
          <p:nvPr/>
        </p:nvSpPr>
        <p:spPr>
          <a:xfrm>
            <a:off x="8595360" y="4846320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dg-interns-hub.vercel.app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566928" y="5961888"/>
            <a:ext cx="110276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Thank you  ·  DG Interns Hub  ·  Week 7 React JS Task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G Interns Hub">
  <a:themeElements>
    <a:clrScheme name="DG Interns Hub">
      <a:dk1>
        <a:srgbClr val="0F172A"/>
      </a:dk1>
      <a:lt1>
        <a:srgbClr val="FFFFFF"/>
      </a:lt1>
      <a:dk2>
        <a:srgbClr val="1E293B"/>
      </a:dk2>
      <a:lt2>
        <a:srgbClr val="F1F5F9"/>
      </a:lt2>
      <a:accent1>
        <a:srgbClr val="4F46E5"/>
      </a:accent1>
      <a:accent2>
        <a:srgbClr val="06B6D4"/>
      </a:accent2>
      <a:accent3>
        <a:srgbClr val="10B981"/>
      </a:accent3>
      <a:accent4>
        <a:srgbClr val="F59E0B"/>
      </a:accent4>
      <a:accent5>
        <a:srgbClr val="64748B"/>
      </a:accent5>
      <a:accent6>
        <a:srgbClr val="8B5CF6"/>
      </a:accent6>
      <a:hlink>
        <a:srgbClr val="4F46E5"/>
      </a:hlink>
      <a:folHlink>
        <a:srgbClr val="8B5CF6"/>
      </a:folHlink>
    </a:clrScheme>
    <a:fontScheme name="DG Interns Hub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DG Interns Hub - React JS Job Landing Website</dc:title>
  <dc:subject>Week 7 Task - React JS</dc:subject>
  <dc:creator>DG Interns Hub</dc:creator>
  <cp:lastModifiedBy>DG Interns Hub</cp:lastModifiedBy>
  <cp:revision>1</cp:revision>
  <dcterms:created xsi:type="dcterms:W3CDTF">2026-10-06T16:23:46Z</dcterms:created>
  <dcterms:modified xsi:type="dcterms:W3CDTF">2026-10-06T16:23:46Z</dcterms:modified>
</cp:coreProperties>
</file>